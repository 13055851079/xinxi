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9733" y="2803004"/>
            <a:ext cx="9732534" cy="2275165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Office办公软件教程</a:t>
            </a:r>
            <a:endParaRPr lang="en-US" sz="495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128506" y="642177"/>
            <a:ext cx="1934988" cy="1944499"/>
            <a:chOff x="5128506" y="642177"/>
            <a:chExt cx="1934988" cy="1944499"/>
          </a:xfrm>
        </p:grpSpPr>
        <p:sp>
          <p:nvSpPr>
            <p:cNvPr id="7" name="AutoShape 7"/>
            <p:cNvSpPr/>
            <p:nvPr/>
          </p:nvSpPr>
          <p:spPr>
            <a:xfrm>
              <a:off x="5128506" y="642177"/>
              <a:ext cx="1934988" cy="1934988"/>
            </a:xfrm>
            <a:prstGeom prst="roundRect">
              <a:avLst>
                <a:gd name="adj" fmla="val 8841"/>
              </a:avLst>
            </a:prstGeom>
            <a:gradFill>
              <a:gsLst>
                <a:gs pos="0">
                  <a:schemeClr val="accent1">
                    <a:alpha val="100000"/>
                    <a:lumMod val="85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2700000"/>
            </a:gradFill>
            <a:effectLst>
              <a:outerShdw blurRad="203200" dist="101600" dir="2700000">
                <a:srgbClr val="000000">
                  <a:alpha val="30000"/>
                </a:srgbClr>
              </a:outerShdw>
            </a:effectLst>
          </p:spPr>
        </p:sp>
        <p:grpSp>
          <p:nvGrpSpPr>
            <p:cNvPr id="8" name="Group 8"/>
            <p:cNvGrpSpPr/>
            <p:nvPr/>
          </p:nvGrpSpPr>
          <p:grpSpPr>
            <a:xfrm rot="0">
              <a:off x="5157096" y="708868"/>
              <a:ext cx="1877808" cy="1877808"/>
              <a:chOff x="5157096" y="708868"/>
              <a:chExt cx="1877808" cy="187780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157096" y="708868"/>
                <a:ext cx="1877808" cy="1877808"/>
              </a:xfrm>
              <a:custGeom>
                <a:avLst/>
                <a:gdLst/>
                <a:ahLst/>
                <a:cxnLst/>
                <a:rect l="l" t="t" r="r" b="b"/>
                <a:pathLst>
                  <a:path w="1625021" h="1625022">
                    <a:moveTo>
                      <a:pt x="247132" y="108611"/>
                    </a:moveTo>
                    <a:cubicBezTo>
                      <a:pt x="173259" y="108611"/>
                      <a:pt x="113373" y="168497"/>
                      <a:pt x="113373" y="242370"/>
                    </a:cubicBezTo>
                    <a:lnTo>
                      <a:pt x="113373" y="1373126"/>
                    </a:lnTo>
                    <a:cubicBezTo>
                      <a:pt x="113373" y="1446999"/>
                      <a:pt x="173259" y="1506885"/>
                      <a:pt x="247132" y="1506885"/>
                    </a:cubicBezTo>
                    <a:lnTo>
                      <a:pt x="1377888" y="1506885"/>
                    </a:lnTo>
                    <a:cubicBezTo>
                      <a:pt x="1451761" y="1506885"/>
                      <a:pt x="1511647" y="1446999"/>
                      <a:pt x="1511647" y="1373126"/>
                    </a:cubicBezTo>
                    <a:lnTo>
                      <a:pt x="1511647" y="242370"/>
                    </a:lnTo>
                    <a:cubicBezTo>
                      <a:pt x="1511647" y="168497"/>
                      <a:pt x="1451761" y="108611"/>
                      <a:pt x="1377888" y="108611"/>
                    </a:cubicBezTo>
                    <a:close/>
                    <a:moveTo>
                      <a:pt x="143668" y="0"/>
                    </a:moveTo>
                    <a:lnTo>
                      <a:pt x="1481353" y="0"/>
                    </a:lnTo>
                    <a:cubicBezTo>
                      <a:pt x="1560699" y="0"/>
                      <a:pt x="1625021" y="64322"/>
                      <a:pt x="1625021" y="143668"/>
                    </a:cubicBezTo>
                    <a:lnTo>
                      <a:pt x="1625021" y="1481354"/>
                    </a:lnTo>
                    <a:cubicBezTo>
                      <a:pt x="1625021" y="1560700"/>
                      <a:pt x="1560699" y="1625022"/>
                      <a:pt x="1481353" y="1625022"/>
                    </a:cubicBezTo>
                    <a:lnTo>
                      <a:pt x="143668" y="1625022"/>
                    </a:lnTo>
                    <a:cubicBezTo>
                      <a:pt x="64322" y="1625022"/>
                      <a:pt x="0" y="1560700"/>
                      <a:pt x="0" y="1481354"/>
                    </a:cubicBezTo>
                    <a:lnTo>
                      <a:pt x="0" y="143668"/>
                    </a:lnTo>
                    <a:cubicBezTo>
                      <a:pt x="0" y="64322"/>
                      <a:pt x="64322" y="0"/>
                      <a:pt x="143668" y="0"/>
                    </a:cubicBezTo>
                    <a:close/>
                  </a:path>
                </a:pathLst>
              </a:custGeom>
              <a:solidFill>
                <a:schemeClr val="accent1">
                  <a:alpha val="100000"/>
                  <a:lumMod val="95000"/>
                </a:schemeClr>
              </a:solidFill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5157096" y="708868"/>
                <a:ext cx="1877808" cy="1877808"/>
              </a:xfrm>
              <a:prstGeom prst="roundRect">
                <a:avLst>
                  <a:gd name="adj" fmla="val 8841"/>
                </a:avLst>
              </a:prstGeom>
              <a:noFill/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5288136" y="839907"/>
                <a:ext cx="1615845" cy="1615845"/>
              </a:xfrm>
              <a:prstGeom prst="roundRect">
                <a:avLst>
                  <a:gd name="adj" fmla="val 9566"/>
                </a:avLst>
              </a:prstGeom>
              <a:noFill/>
            </p:spPr>
          </p:sp>
        </p:grpSp>
        <p:sp>
          <p:nvSpPr>
            <p:cNvPr id="12" name="Freeform 12"/>
            <p:cNvSpPr/>
            <p:nvPr/>
          </p:nvSpPr>
          <p:spPr>
            <a:xfrm>
              <a:off x="5441229" y="1209058"/>
              <a:ext cx="1309543" cy="896478"/>
            </a:xfrm>
            <a:custGeom>
              <a:avLst/>
              <a:gdLst/>
              <a:ahLst/>
              <a:cxnLst/>
              <a:rect l="l" t="t" r="r" b="b"/>
              <a:pathLst>
                <a:path w="3113" h="2131">
                  <a:moveTo>
                    <a:pt x="3057" y="497"/>
                  </a:moveTo>
                  <a:cubicBezTo>
                    <a:pt x="1582" y="5"/>
                    <a:pt x="1582" y="5"/>
                    <a:pt x="1582" y="5"/>
                  </a:cubicBezTo>
                  <a:cubicBezTo>
                    <a:pt x="1565" y="0"/>
                    <a:pt x="1547" y="0"/>
                    <a:pt x="1531" y="5"/>
                  </a:cubicBezTo>
                  <a:cubicBezTo>
                    <a:pt x="56" y="497"/>
                    <a:pt x="56" y="497"/>
                    <a:pt x="56" y="497"/>
                  </a:cubicBezTo>
                  <a:cubicBezTo>
                    <a:pt x="23" y="508"/>
                    <a:pt x="0" y="539"/>
                    <a:pt x="0" y="574"/>
                  </a:cubicBezTo>
                  <a:cubicBezTo>
                    <a:pt x="0" y="610"/>
                    <a:pt x="23" y="641"/>
                    <a:pt x="56" y="652"/>
                  </a:cubicBezTo>
                  <a:cubicBezTo>
                    <a:pt x="492" y="797"/>
                    <a:pt x="492" y="797"/>
                    <a:pt x="492" y="797"/>
                  </a:cubicBezTo>
                  <a:cubicBezTo>
                    <a:pt x="492" y="1230"/>
                    <a:pt x="492" y="1230"/>
                    <a:pt x="492" y="1230"/>
                  </a:cubicBezTo>
                  <a:cubicBezTo>
                    <a:pt x="492" y="1252"/>
                    <a:pt x="500" y="1272"/>
                    <a:pt x="515" y="1288"/>
                  </a:cubicBezTo>
                  <a:cubicBezTo>
                    <a:pt x="530" y="1302"/>
                    <a:pt x="875" y="1639"/>
                    <a:pt x="1556" y="1639"/>
                  </a:cubicBezTo>
                  <a:cubicBezTo>
                    <a:pt x="1804" y="1639"/>
                    <a:pt x="2036" y="1595"/>
                    <a:pt x="2244" y="1507"/>
                  </a:cubicBezTo>
                  <a:cubicBezTo>
                    <a:pt x="2285" y="1489"/>
                    <a:pt x="2305" y="1441"/>
                    <a:pt x="2287" y="1399"/>
                  </a:cubicBezTo>
                  <a:cubicBezTo>
                    <a:pt x="2270" y="1358"/>
                    <a:pt x="2222" y="1338"/>
                    <a:pt x="2180" y="1356"/>
                  </a:cubicBezTo>
                  <a:cubicBezTo>
                    <a:pt x="1992" y="1435"/>
                    <a:pt x="1782" y="1475"/>
                    <a:pt x="1557" y="1475"/>
                  </a:cubicBezTo>
                  <a:cubicBezTo>
                    <a:pt x="1238" y="1475"/>
                    <a:pt x="1004" y="1393"/>
                    <a:pt x="863" y="1324"/>
                  </a:cubicBezTo>
                  <a:cubicBezTo>
                    <a:pt x="759" y="1272"/>
                    <a:pt x="689" y="1221"/>
                    <a:pt x="656" y="1193"/>
                  </a:cubicBezTo>
                  <a:cubicBezTo>
                    <a:pt x="656" y="852"/>
                    <a:pt x="656" y="852"/>
                    <a:pt x="656" y="852"/>
                  </a:cubicBezTo>
                  <a:cubicBezTo>
                    <a:pt x="1531" y="1144"/>
                    <a:pt x="1531" y="1144"/>
                    <a:pt x="1531" y="1144"/>
                  </a:cubicBezTo>
                  <a:cubicBezTo>
                    <a:pt x="1539" y="1146"/>
                    <a:pt x="1548" y="1148"/>
                    <a:pt x="1557" y="1148"/>
                  </a:cubicBezTo>
                  <a:cubicBezTo>
                    <a:pt x="1565" y="1148"/>
                    <a:pt x="1574" y="1146"/>
                    <a:pt x="1583" y="1144"/>
                  </a:cubicBezTo>
                  <a:cubicBezTo>
                    <a:pt x="2458" y="852"/>
                    <a:pt x="2458" y="852"/>
                    <a:pt x="2458" y="852"/>
                  </a:cubicBezTo>
                  <a:cubicBezTo>
                    <a:pt x="2458" y="998"/>
                    <a:pt x="2458" y="998"/>
                    <a:pt x="2458" y="998"/>
                  </a:cubicBezTo>
                  <a:cubicBezTo>
                    <a:pt x="2362" y="1032"/>
                    <a:pt x="2294" y="1123"/>
                    <a:pt x="2294" y="1230"/>
                  </a:cubicBezTo>
                  <a:cubicBezTo>
                    <a:pt x="2294" y="1330"/>
                    <a:pt x="2354" y="1416"/>
                    <a:pt x="2440" y="1454"/>
                  </a:cubicBezTo>
                  <a:cubicBezTo>
                    <a:pt x="2296" y="2029"/>
                    <a:pt x="2296" y="2029"/>
                    <a:pt x="2296" y="2029"/>
                  </a:cubicBezTo>
                  <a:cubicBezTo>
                    <a:pt x="2290" y="2053"/>
                    <a:pt x="2296" y="2080"/>
                    <a:pt x="2311" y="2099"/>
                  </a:cubicBezTo>
                  <a:cubicBezTo>
                    <a:pt x="2327" y="2119"/>
                    <a:pt x="2351" y="2131"/>
                    <a:pt x="2376" y="2131"/>
                  </a:cubicBezTo>
                  <a:cubicBezTo>
                    <a:pt x="2704" y="2131"/>
                    <a:pt x="2704" y="2131"/>
                    <a:pt x="2704" y="2131"/>
                  </a:cubicBezTo>
                  <a:cubicBezTo>
                    <a:pt x="2729" y="2131"/>
                    <a:pt x="2753" y="2119"/>
                    <a:pt x="2768" y="2099"/>
                  </a:cubicBezTo>
                  <a:cubicBezTo>
                    <a:pt x="2784" y="2080"/>
                    <a:pt x="2789" y="2053"/>
                    <a:pt x="2783" y="2029"/>
                  </a:cubicBezTo>
                  <a:cubicBezTo>
                    <a:pt x="2639" y="1454"/>
                    <a:pt x="2639" y="1454"/>
                    <a:pt x="2639" y="1454"/>
                  </a:cubicBezTo>
                  <a:cubicBezTo>
                    <a:pt x="2725" y="1416"/>
                    <a:pt x="2785" y="1330"/>
                    <a:pt x="2785" y="1230"/>
                  </a:cubicBezTo>
                  <a:cubicBezTo>
                    <a:pt x="2785" y="1123"/>
                    <a:pt x="2717" y="1032"/>
                    <a:pt x="2622" y="998"/>
                  </a:cubicBezTo>
                  <a:cubicBezTo>
                    <a:pt x="2622" y="797"/>
                    <a:pt x="2622" y="797"/>
                    <a:pt x="2622" y="797"/>
                  </a:cubicBezTo>
                  <a:cubicBezTo>
                    <a:pt x="3057" y="652"/>
                    <a:pt x="3057" y="652"/>
                    <a:pt x="3057" y="652"/>
                  </a:cubicBezTo>
                  <a:cubicBezTo>
                    <a:pt x="3091" y="641"/>
                    <a:pt x="3113" y="610"/>
                    <a:pt x="3113" y="574"/>
                  </a:cubicBezTo>
                  <a:cubicBezTo>
                    <a:pt x="3113" y="539"/>
                    <a:pt x="3091" y="508"/>
                    <a:pt x="3057" y="497"/>
                  </a:cubicBezTo>
                  <a:close/>
                  <a:moveTo>
                    <a:pt x="2540" y="1148"/>
                  </a:moveTo>
                  <a:cubicBezTo>
                    <a:pt x="2585" y="1148"/>
                    <a:pt x="2621" y="1184"/>
                    <a:pt x="2621" y="1230"/>
                  </a:cubicBezTo>
                  <a:cubicBezTo>
                    <a:pt x="2621" y="1275"/>
                    <a:pt x="2585" y="1312"/>
                    <a:pt x="2540" y="1312"/>
                  </a:cubicBezTo>
                  <a:cubicBezTo>
                    <a:pt x="2494" y="1312"/>
                    <a:pt x="2458" y="1275"/>
                    <a:pt x="2458" y="1230"/>
                  </a:cubicBezTo>
                  <a:cubicBezTo>
                    <a:pt x="2458" y="1184"/>
                    <a:pt x="2494" y="1148"/>
                    <a:pt x="2540" y="1148"/>
                  </a:cubicBezTo>
                  <a:close/>
                  <a:moveTo>
                    <a:pt x="2481" y="1967"/>
                  </a:moveTo>
                  <a:cubicBezTo>
                    <a:pt x="2540" y="1731"/>
                    <a:pt x="2540" y="1731"/>
                    <a:pt x="2540" y="1731"/>
                  </a:cubicBezTo>
                  <a:cubicBezTo>
                    <a:pt x="2599" y="1967"/>
                    <a:pt x="2599" y="1967"/>
                    <a:pt x="2599" y="1967"/>
                  </a:cubicBezTo>
                  <a:cubicBezTo>
                    <a:pt x="2481" y="1967"/>
                    <a:pt x="2481" y="1967"/>
                    <a:pt x="2481" y="1967"/>
                  </a:cubicBezTo>
                  <a:close/>
                  <a:moveTo>
                    <a:pt x="2533" y="654"/>
                  </a:moveTo>
                  <a:cubicBezTo>
                    <a:pt x="1570" y="493"/>
                    <a:pt x="1570" y="493"/>
                    <a:pt x="1570" y="493"/>
                  </a:cubicBezTo>
                  <a:cubicBezTo>
                    <a:pt x="1525" y="486"/>
                    <a:pt x="1483" y="516"/>
                    <a:pt x="1476" y="561"/>
                  </a:cubicBezTo>
                  <a:cubicBezTo>
                    <a:pt x="1469" y="605"/>
                    <a:pt x="1499" y="648"/>
                    <a:pt x="1543" y="655"/>
                  </a:cubicBezTo>
                  <a:cubicBezTo>
                    <a:pt x="2201" y="765"/>
                    <a:pt x="2201" y="765"/>
                    <a:pt x="2201" y="765"/>
                  </a:cubicBezTo>
                  <a:cubicBezTo>
                    <a:pt x="1557" y="979"/>
                    <a:pt x="1557" y="979"/>
                    <a:pt x="1557" y="979"/>
                  </a:cubicBezTo>
                  <a:cubicBezTo>
                    <a:pt x="341" y="574"/>
                    <a:pt x="341" y="574"/>
                    <a:pt x="341" y="574"/>
                  </a:cubicBezTo>
                  <a:cubicBezTo>
                    <a:pt x="1557" y="169"/>
                    <a:pt x="1557" y="169"/>
                    <a:pt x="1557" y="169"/>
                  </a:cubicBezTo>
                  <a:cubicBezTo>
                    <a:pt x="2772" y="574"/>
                    <a:pt x="2772" y="574"/>
                    <a:pt x="2772" y="574"/>
                  </a:cubicBezTo>
                  <a:cubicBezTo>
                    <a:pt x="2533" y="654"/>
                    <a:pt x="2533" y="654"/>
                    <a:pt x="2533" y="654"/>
                  </a:cubicBezTo>
                  <a:close/>
                  <a:moveTo>
                    <a:pt x="2533" y="654"/>
                  </a:moveTo>
                  <a:cubicBezTo>
                    <a:pt x="2533" y="654"/>
                    <a:pt x="2533" y="654"/>
                    <a:pt x="2533" y="654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029825" y="657225"/>
            <a:ext cx="1743075" cy="7334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500">
                <a:solidFill>
                  <a:srgbClr val="00BCA6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目录</a:t>
            </a:r>
            <a:endParaRPr lang="en-US" sz="4500">
              <a:solidFill>
                <a:srgbClr val="00BCA6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53481" y="2076450"/>
            <a:ext cx="1476375" cy="8096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950">
                <a:solidFill>
                  <a:srgbClr val="00BCA6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4950">
              <a:solidFill>
                <a:srgbClr val="00BCA6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63106" y="2188846"/>
            <a:ext cx="7081302" cy="56263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Word文档处理技巧</a:t>
            </a:r>
            <a:endParaRPr lang="en-US" sz="36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53540" y="3514725"/>
            <a:ext cx="1476375" cy="8096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950">
                <a:solidFill>
                  <a:srgbClr val="00BCA6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4950">
              <a:solidFill>
                <a:srgbClr val="00BCA6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63165" y="3609975"/>
            <a:ext cx="7081302" cy="56263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Excel数据处理与分析</a:t>
            </a:r>
            <a:endParaRPr lang="en-US" sz="36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53540" y="4953000"/>
            <a:ext cx="1476375" cy="8096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950">
                <a:solidFill>
                  <a:srgbClr val="00BCA6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4950">
              <a:solidFill>
                <a:srgbClr val="00BCA6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63165" y="5038725"/>
            <a:ext cx="7081302" cy="56263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PowerPoint演示制作</a:t>
            </a:r>
            <a:endParaRPr lang="en-US" sz="36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585" y="1029917"/>
            <a:ext cx="8686800" cy="13430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8475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8475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97052" y="2763839"/>
            <a:ext cx="8024317" cy="187261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5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Word文档处理技巧</a:t>
            </a:r>
            <a:endParaRPr lang="en-US" sz="45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033917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1097052" y="5602490"/>
            <a:ext cx="3105150" cy="4667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Chapter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>
            <a:off x="3377035" y="5849950"/>
            <a:ext cx="8820012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Freeform 7"/>
          <p:cNvSpPr/>
          <p:nvPr/>
        </p:nvSpPr>
        <p:spPr>
          <a:xfrm>
            <a:off x="2862358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Freeform 8"/>
          <p:cNvSpPr/>
          <p:nvPr/>
        </p:nvSpPr>
        <p:spPr>
          <a:xfrm>
            <a:off x="2690798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97052" y="1098977"/>
            <a:ext cx="1335306" cy="1335306"/>
          </a:xfrm>
          <a:prstGeom prst="roundRect">
            <a:avLst>
              <a:gd name="adj" fmla="val 8841"/>
            </a:avLst>
          </a:prstGeom>
          <a:gradFill>
            <a:gsLst>
              <a:gs pos="0">
                <a:schemeClr val="accent1">
                  <a:alpha val="100000"/>
                  <a:lumMod val="85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effectLst>
            <a:outerShdw blurRad="203200" dist="101600" dir="2700000">
              <a:srgbClr val="000000">
                <a:alpha val="30000"/>
              </a:srgbClr>
            </a:outerShdw>
          </a:effectLst>
        </p:spPr>
      </p:sp>
      <p:grpSp>
        <p:nvGrpSpPr>
          <p:cNvPr id="10" name="Group 10"/>
          <p:cNvGrpSpPr/>
          <p:nvPr/>
        </p:nvGrpSpPr>
        <p:grpSpPr>
          <a:xfrm rot="0">
            <a:off x="1133886" y="1135811"/>
            <a:ext cx="1261638" cy="1261638"/>
            <a:chOff x="1133886" y="1135811"/>
            <a:chExt cx="1261638" cy="1261638"/>
          </a:xfrm>
        </p:grpSpPr>
        <p:sp>
          <p:nvSpPr>
            <p:cNvPr id="11" name="Freeform 11"/>
            <p:cNvSpPr/>
            <p:nvPr/>
          </p:nvSpPr>
          <p:spPr>
            <a:xfrm>
              <a:off x="1133886" y="1135811"/>
              <a:ext cx="1261638" cy="1261638"/>
            </a:xfrm>
            <a:custGeom>
              <a:avLst/>
              <a:gdLst/>
              <a:ahLst/>
              <a:cxnLst/>
              <a:rect l="l" t="t" r="r" b="b"/>
              <a:pathLst>
                <a:path w="1625021" h="1625022">
                  <a:moveTo>
                    <a:pt x="247132" y="108611"/>
                  </a:moveTo>
                  <a:cubicBezTo>
                    <a:pt x="173259" y="108611"/>
                    <a:pt x="113373" y="168497"/>
                    <a:pt x="113373" y="242370"/>
                  </a:cubicBezTo>
                  <a:lnTo>
                    <a:pt x="113373" y="1373126"/>
                  </a:lnTo>
                  <a:cubicBezTo>
                    <a:pt x="113373" y="1446999"/>
                    <a:pt x="173259" y="1506885"/>
                    <a:pt x="247132" y="1506885"/>
                  </a:cubicBezTo>
                  <a:lnTo>
                    <a:pt x="1377888" y="1506885"/>
                  </a:lnTo>
                  <a:cubicBezTo>
                    <a:pt x="1451761" y="1506885"/>
                    <a:pt x="1511647" y="1446999"/>
                    <a:pt x="1511647" y="1373126"/>
                  </a:cubicBezTo>
                  <a:lnTo>
                    <a:pt x="1511647" y="242370"/>
                  </a:lnTo>
                  <a:cubicBezTo>
                    <a:pt x="1511647" y="168497"/>
                    <a:pt x="1451761" y="108611"/>
                    <a:pt x="1377888" y="108611"/>
                  </a:cubicBezTo>
                  <a:close/>
                  <a:moveTo>
                    <a:pt x="143668" y="0"/>
                  </a:moveTo>
                  <a:lnTo>
                    <a:pt x="1481353" y="0"/>
                  </a:lnTo>
                  <a:cubicBezTo>
                    <a:pt x="1560699" y="0"/>
                    <a:pt x="1625021" y="64322"/>
                    <a:pt x="1625021" y="143668"/>
                  </a:cubicBezTo>
                  <a:lnTo>
                    <a:pt x="1625021" y="1481354"/>
                  </a:lnTo>
                  <a:cubicBezTo>
                    <a:pt x="1625021" y="1560700"/>
                    <a:pt x="1560699" y="1625022"/>
                    <a:pt x="1481353" y="1625022"/>
                  </a:cubicBezTo>
                  <a:lnTo>
                    <a:pt x="143668" y="1625022"/>
                  </a:lnTo>
                  <a:cubicBezTo>
                    <a:pt x="64322" y="1625022"/>
                    <a:pt x="0" y="1560700"/>
                    <a:pt x="0" y="1481354"/>
                  </a:cubicBezTo>
                  <a:lnTo>
                    <a:pt x="0" y="143668"/>
                  </a:lnTo>
                  <a:cubicBezTo>
                    <a:pt x="0" y="64322"/>
                    <a:pt x="64322" y="0"/>
                    <a:pt x="143668" y="0"/>
                  </a:cubicBezTo>
                  <a:close/>
                </a:path>
              </a:pathLst>
            </a:custGeom>
            <a:solidFill>
              <a:schemeClr val="accent1">
                <a:alpha val="100000"/>
                <a:lumMod val="95000"/>
              </a:schemeClr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1133886" y="1135811"/>
              <a:ext cx="1261638" cy="1261638"/>
            </a:xfrm>
            <a:prstGeom prst="roundRect">
              <a:avLst>
                <a:gd name="adj" fmla="val 8841"/>
              </a:avLst>
            </a:prstGeom>
            <a:noFill/>
          </p:spPr>
        </p:sp>
        <p:sp>
          <p:nvSpPr>
            <p:cNvPr id="13" name="AutoShape 13"/>
            <p:cNvSpPr/>
            <p:nvPr/>
          </p:nvSpPr>
          <p:spPr>
            <a:xfrm>
              <a:off x="1221928" y="1223852"/>
              <a:ext cx="1085633" cy="1085633"/>
            </a:xfrm>
            <a:prstGeom prst="roundRect">
              <a:avLst>
                <a:gd name="adj" fmla="val 9566"/>
              </a:avLst>
            </a:prstGeom>
            <a:noFill/>
          </p:spPr>
        </p:sp>
      </p:grpSp>
      <p:sp>
        <p:nvSpPr>
          <p:cNvPr id="14" name="Freeform 14"/>
          <p:cNvSpPr/>
          <p:nvPr/>
        </p:nvSpPr>
        <p:spPr>
          <a:xfrm>
            <a:off x="1342916" y="1576096"/>
            <a:ext cx="843579" cy="577491"/>
          </a:xfrm>
          <a:custGeom>
            <a:avLst/>
            <a:gdLst/>
            <a:ahLst/>
            <a:cxnLst/>
            <a:rect l="l" t="t" r="r" b="b"/>
            <a:pathLst>
              <a:path w="3113" h="2131">
                <a:moveTo>
                  <a:pt x="3057" y="497"/>
                </a:moveTo>
                <a:cubicBezTo>
                  <a:pt x="1582" y="5"/>
                  <a:pt x="1582" y="5"/>
                  <a:pt x="1582" y="5"/>
                </a:cubicBezTo>
                <a:cubicBezTo>
                  <a:pt x="1565" y="0"/>
                  <a:pt x="1547" y="0"/>
                  <a:pt x="1531" y="5"/>
                </a:cubicBezTo>
                <a:cubicBezTo>
                  <a:pt x="56" y="497"/>
                  <a:pt x="56" y="497"/>
                  <a:pt x="56" y="497"/>
                </a:cubicBezTo>
                <a:cubicBezTo>
                  <a:pt x="23" y="508"/>
                  <a:pt x="0" y="539"/>
                  <a:pt x="0" y="574"/>
                </a:cubicBezTo>
                <a:cubicBezTo>
                  <a:pt x="0" y="610"/>
                  <a:pt x="23" y="641"/>
                  <a:pt x="56" y="652"/>
                </a:cubicBezTo>
                <a:cubicBezTo>
                  <a:pt x="492" y="797"/>
                  <a:pt x="492" y="797"/>
                  <a:pt x="492" y="797"/>
                </a:cubicBezTo>
                <a:cubicBezTo>
                  <a:pt x="492" y="1230"/>
                  <a:pt x="492" y="1230"/>
                  <a:pt x="492" y="1230"/>
                </a:cubicBezTo>
                <a:cubicBezTo>
                  <a:pt x="492" y="1252"/>
                  <a:pt x="500" y="1272"/>
                  <a:pt x="515" y="1288"/>
                </a:cubicBezTo>
                <a:cubicBezTo>
                  <a:pt x="530" y="1302"/>
                  <a:pt x="875" y="1639"/>
                  <a:pt x="1556" y="1639"/>
                </a:cubicBezTo>
                <a:cubicBezTo>
                  <a:pt x="1804" y="1639"/>
                  <a:pt x="2036" y="1595"/>
                  <a:pt x="2244" y="1507"/>
                </a:cubicBezTo>
                <a:cubicBezTo>
                  <a:pt x="2285" y="1489"/>
                  <a:pt x="2305" y="1441"/>
                  <a:pt x="2287" y="1399"/>
                </a:cubicBezTo>
                <a:cubicBezTo>
                  <a:pt x="2270" y="1358"/>
                  <a:pt x="2222" y="1338"/>
                  <a:pt x="2180" y="1356"/>
                </a:cubicBezTo>
                <a:cubicBezTo>
                  <a:pt x="1992" y="1435"/>
                  <a:pt x="1782" y="1475"/>
                  <a:pt x="1557" y="1475"/>
                </a:cubicBezTo>
                <a:cubicBezTo>
                  <a:pt x="1238" y="1475"/>
                  <a:pt x="1004" y="1393"/>
                  <a:pt x="863" y="1324"/>
                </a:cubicBezTo>
                <a:cubicBezTo>
                  <a:pt x="759" y="1272"/>
                  <a:pt x="689" y="1221"/>
                  <a:pt x="656" y="1193"/>
                </a:cubicBezTo>
                <a:cubicBezTo>
                  <a:pt x="656" y="852"/>
                  <a:pt x="656" y="852"/>
                  <a:pt x="656" y="852"/>
                </a:cubicBezTo>
                <a:cubicBezTo>
                  <a:pt x="1531" y="1144"/>
                  <a:pt x="1531" y="1144"/>
                  <a:pt x="1531" y="1144"/>
                </a:cubicBezTo>
                <a:cubicBezTo>
                  <a:pt x="1539" y="1146"/>
                  <a:pt x="1548" y="1148"/>
                  <a:pt x="1557" y="1148"/>
                </a:cubicBezTo>
                <a:cubicBezTo>
                  <a:pt x="1565" y="1148"/>
                  <a:pt x="1574" y="1146"/>
                  <a:pt x="1583" y="1144"/>
                </a:cubicBezTo>
                <a:cubicBezTo>
                  <a:pt x="2458" y="852"/>
                  <a:pt x="2458" y="852"/>
                  <a:pt x="2458" y="852"/>
                </a:cubicBezTo>
                <a:cubicBezTo>
                  <a:pt x="2458" y="998"/>
                  <a:pt x="2458" y="998"/>
                  <a:pt x="2458" y="998"/>
                </a:cubicBezTo>
                <a:cubicBezTo>
                  <a:pt x="2362" y="1032"/>
                  <a:pt x="2294" y="1123"/>
                  <a:pt x="2294" y="1230"/>
                </a:cubicBezTo>
                <a:cubicBezTo>
                  <a:pt x="2294" y="1330"/>
                  <a:pt x="2354" y="1416"/>
                  <a:pt x="2440" y="1454"/>
                </a:cubicBezTo>
                <a:cubicBezTo>
                  <a:pt x="2296" y="2029"/>
                  <a:pt x="2296" y="2029"/>
                  <a:pt x="2296" y="2029"/>
                </a:cubicBezTo>
                <a:cubicBezTo>
                  <a:pt x="2290" y="2053"/>
                  <a:pt x="2296" y="2080"/>
                  <a:pt x="2311" y="2099"/>
                </a:cubicBezTo>
                <a:cubicBezTo>
                  <a:pt x="2327" y="2119"/>
                  <a:pt x="2351" y="2131"/>
                  <a:pt x="2376" y="2131"/>
                </a:cubicBezTo>
                <a:cubicBezTo>
                  <a:pt x="2704" y="2131"/>
                  <a:pt x="2704" y="2131"/>
                  <a:pt x="2704" y="2131"/>
                </a:cubicBezTo>
                <a:cubicBezTo>
                  <a:pt x="2729" y="2131"/>
                  <a:pt x="2753" y="2119"/>
                  <a:pt x="2768" y="2099"/>
                </a:cubicBezTo>
                <a:cubicBezTo>
                  <a:pt x="2784" y="2080"/>
                  <a:pt x="2789" y="2053"/>
                  <a:pt x="2783" y="2029"/>
                </a:cubicBezTo>
                <a:cubicBezTo>
                  <a:pt x="2639" y="1454"/>
                  <a:pt x="2639" y="1454"/>
                  <a:pt x="2639" y="1454"/>
                </a:cubicBezTo>
                <a:cubicBezTo>
                  <a:pt x="2725" y="1416"/>
                  <a:pt x="2785" y="1330"/>
                  <a:pt x="2785" y="1230"/>
                </a:cubicBezTo>
                <a:cubicBezTo>
                  <a:pt x="2785" y="1123"/>
                  <a:pt x="2717" y="1032"/>
                  <a:pt x="2622" y="998"/>
                </a:cubicBezTo>
                <a:cubicBezTo>
                  <a:pt x="2622" y="797"/>
                  <a:pt x="2622" y="797"/>
                  <a:pt x="2622" y="797"/>
                </a:cubicBezTo>
                <a:cubicBezTo>
                  <a:pt x="3057" y="652"/>
                  <a:pt x="3057" y="652"/>
                  <a:pt x="3057" y="652"/>
                </a:cubicBezTo>
                <a:cubicBezTo>
                  <a:pt x="3091" y="641"/>
                  <a:pt x="3113" y="610"/>
                  <a:pt x="3113" y="574"/>
                </a:cubicBezTo>
                <a:cubicBezTo>
                  <a:pt x="3113" y="539"/>
                  <a:pt x="3091" y="508"/>
                  <a:pt x="3057" y="497"/>
                </a:cubicBezTo>
                <a:close/>
                <a:moveTo>
                  <a:pt x="2540" y="1148"/>
                </a:moveTo>
                <a:cubicBezTo>
                  <a:pt x="2585" y="1148"/>
                  <a:pt x="2621" y="1184"/>
                  <a:pt x="2621" y="1230"/>
                </a:cubicBezTo>
                <a:cubicBezTo>
                  <a:pt x="2621" y="1275"/>
                  <a:pt x="2585" y="1312"/>
                  <a:pt x="2540" y="1312"/>
                </a:cubicBezTo>
                <a:cubicBezTo>
                  <a:pt x="2494" y="1312"/>
                  <a:pt x="2458" y="1275"/>
                  <a:pt x="2458" y="1230"/>
                </a:cubicBezTo>
                <a:cubicBezTo>
                  <a:pt x="2458" y="1184"/>
                  <a:pt x="2494" y="1148"/>
                  <a:pt x="2540" y="1148"/>
                </a:cubicBezTo>
                <a:close/>
                <a:moveTo>
                  <a:pt x="2481" y="1967"/>
                </a:moveTo>
                <a:cubicBezTo>
                  <a:pt x="2540" y="1731"/>
                  <a:pt x="2540" y="1731"/>
                  <a:pt x="2540" y="1731"/>
                </a:cubicBezTo>
                <a:cubicBezTo>
                  <a:pt x="2599" y="1967"/>
                  <a:pt x="2599" y="1967"/>
                  <a:pt x="2599" y="1967"/>
                </a:cubicBezTo>
                <a:cubicBezTo>
                  <a:pt x="2481" y="1967"/>
                  <a:pt x="2481" y="1967"/>
                  <a:pt x="2481" y="1967"/>
                </a:cubicBezTo>
                <a:close/>
                <a:moveTo>
                  <a:pt x="2533" y="654"/>
                </a:moveTo>
                <a:cubicBezTo>
                  <a:pt x="1570" y="493"/>
                  <a:pt x="1570" y="493"/>
                  <a:pt x="1570" y="493"/>
                </a:cubicBezTo>
                <a:cubicBezTo>
                  <a:pt x="1525" y="486"/>
                  <a:pt x="1483" y="516"/>
                  <a:pt x="1476" y="561"/>
                </a:cubicBezTo>
                <a:cubicBezTo>
                  <a:pt x="1469" y="605"/>
                  <a:pt x="1499" y="648"/>
                  <a:pt x="1543" y="655"/>
                </a:cubicBezTo>
                <a:cubicBezTo>
                  <a:pt x="2201" y="765"/>
                  <a:pt x="2201" y="765"/>
                  <a:pt x="2201" y="765"/>
                </a:cubicBezTo>
                <a:cubicBezTo>
                  <a:pt x="1557" y="979"/>
                  <a:pt x="1557" y="979"/>
                  <a:pt x="1557" y="979"/>
                </a:cubicBezTo>
                <a:cubicBezTo>
                  <a:pt x="341" y="574"/>
                  <a:pt x="341" y="574"/>
                  <a:pt x="341" y="574"/>
                </a:cubicBezTo>
                <a:cubicBezTo>
                  <a:pt x="1557" y="169"/>
                  <a:pt x="1557" y="169"/>
                  <a:pt x="1557" y="169"/>
                </a:cubicBezTo>
                <a:cubicBezTo>
                  <a:pt x="2772" y="574"/>
                  <a:pt x="2772" y="574"/>
                  <a:pt x="2772" y="574"/>
                </a:cubicBezTo>
                <a:cubicBezTo>
                  <a:pt x="2533" y="654"/>
                  <a:pt x="2533" y="654"/>
                  <a:pt x="2533" y="654"/>
                </a:cubicBezTo>
                <a:close/>
                <a:moveTo>
                  <a:pt x="2533" y="654"/>
                </a:moveTo>
                <a:cubicBezTo>
                  <a:pt x="2533" y="654"/>
                  <a:pt x="2533" y="654"/>
                  <a:pt x="2533" y="654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基础排版与格式设置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 l="34239" r="34239"/>
          <a:stretch>
            <a:fillRect/>
          </a:stretch>
        </p:blipFill>
        <p:spPr>
          <a:xfrm>
            <a:off x="580909" y="1271253"/>
            <a:ext cx="2628508" cy="504477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3372015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3512796" y="2561882"/>
            <a:ext cx="2346946" cy="314823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通过【开始】选项卡可设置字体类型、大小、颜色及粗体/斜体等效果；段落格式包括对齐方式、缩进（首行缩进2字符）、行距（单倍/1.5倍/固定值）和段前段后间距，确保文档层次清晰。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12796" y="1399982"/>
            <a:ext cx="2346946" cy="110481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字体与段落调整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156270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6297050" y="2561882"/>
            <a:ext cx="2346946" cy="30151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使用内置样式库（标题1/正文/引用等）或自定义样式，一键套用至全文，保持字体、间距的一致性，避免手动重复调整。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97050" y="1399982"/>
            <a:ext cx="2346946" cy="110481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样式统一管理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949764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9090545" y="2561882"/>
            <a:ext cx="2346946" cy="314823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通过【布局】选项卡调整页边距（自定义上下左右边距）、纸张方向（横向/纵向）和分栏（新闻稿式排版），适应不同文档类型需求。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90545" y="1399982"/>
            <a:ext cx="2346946" cy="110481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页面布局优化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8633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78633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表格与图表制作方法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698935" y="1489452"/>
            <a:ext cx="2914650" cy="291465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9780389" y="1489452"/>
            <a:ext cx="1714500" cy="2914650"/>
          </a:xfrm>
          <a:prstGeom prst="rect">
            <a:avLst/>
          </a:prstGeom>
          <a:solidFill>
            <a:schemeClr val="accent2">
              <a:alpha val="20000"/>
              <a:lumMod val="75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6698935" y="4585077"/>
            <a:ext cx="2914650" cy="1619250"/>
          </a:xfrm>
          <a:prstGeom prst="rect">
            <a:avLst/>
          </a:prstGeom>
          <a:solidFill>
            <a:schemeClr val="accent4">
              <a:alpha val="2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9780389" y="4585077"/>
            <a:ext cx="1714500" cy="161925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100000"/>
          </a:blip>
          <a:srcRect l="16675" r="16675"/>
          <a:stretch>
            <a:fillRect/>
          </a:stretch>
        </p:blipFill>
        <p:spPr>
          <a:xfrm>
            <a:off x="6784660" y="1575177"/>
            <a:ext cx="2743200" cy="274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00000"/>
          </a:blip>
          <a:srcRect t="10417" b="10417"/>
          <a:stretch>
            <a:fillRect/>
          </a:stretch>
        </p:blipFill>
        <p:spPr>
          <a:xfrm>
            <a:off x="6784660" y="4670802"/>
            <a:ext cx="2743200" cy="1447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100000"/>
          </a:blip>
          <a:srcRect l="31461" r="31461"/>
          <a:stretch>
            <a:fillRect/>
          </a:stretch>
        </p:blipFill>
        <p:spPr>
          <a:xfrm>
            <a:off x="9866115" y="1575177"/>
            <a:ext cx="1543050" cy="274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866114" y="4670802"/>
            <a:ext cx="1543050" cy="14478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Freeform 13"/>
          <p:cNvSpPr/>
          <p:nvPr/>
        </p:nvSpPr>
        <p:spPr>
          <a:xfrm>
            <a:off x="10232888" y="5037575"/>
            <a:ext cx="809504" cy="80950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</a:path>
            </a:pathLst>
          </a:cu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4" name="TextBox 14"/>
          <p:cNvSpPr txBox="1"/>
          <p:nvPr/>
        </p:nvSpPr>
        <p:spPr>
          <a:xfrm>
            <a:off x="1382164" y="1579985"/>
            <a:ext cx="2088193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表格插入与编辑</a:t>
            </a:r>
            <a:endParaRPr lang="en-US" sz="16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 rot="5400000">
            <a:off x="667791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1">
              <a:alpha val="20000"/>
            </a:schemeClr>
          </a:solidFill>
        </p:spPr>
      </p:sp>
      <p:sp>
        <p:nvSpPr>
          <p:cNvPr id="16" name="TextBox 16"/>
          <p:cNvSpPr txBox="1"/>
          <p:nvPr/>
        </p:nvSpPr>
        <p:spPr>
          <a:xfrm>
            <a:off x="756538" y="213757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点击【插入】→【表格】选择行列数，通过【表格工具】调整对齐方式（水平居中）、合并单元格（送货单表头）及边框样式，支持拖拽调整行高列宽。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 rot="5400000">
            <a:off x="658476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>
            <a:off x="597683" y="157517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628068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>
            <a:off x="4431599" y="1579985"/>
            <a:ext cx="2037145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Excel数据联动</a:t>
            </a:r>
            <a:endParaRPr lang="en-US" sz="16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 rot="5400000">
            <a:off x="3717225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2">
              <a:alpha val="20000"/>
              <a:lumMod val="75000"/>
            </a:schemeClr>
          </a:solidFill>
        </p:spPr>
      </p:sp>
      <p:sp>
        <p:nvSpPr>
          <p:cNvPr id="22" name="TextBox 22"/>
          <p:cNvSpPr txBox="1"/>
          <p:nvPr/>
        </p:nvSpPr>
        <p:spPr>
          <a:xfrm>
            <a:off x="3805973" y="213757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复制Excel表格区域粘贴至Word，或通过【插入】→【对象】→【链接到文件】保持数据同步更新，双击即可跳转Excel编辑。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3707910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  <a:lumMod val="75000"/>
            </a:schemeClr>
          </a:solidFill>
        </p:spPr>
      </p:sp>
      <p:sp>
        <p:nvSpPr>
          <p:cNvPr id="24" name="TextBox 24"/>
          <p:cNvSpPr txBox="1"/>
          <p:nvPr/>
        </p:nvSpPr>
        <p:spPr>
          <a:xfrm>
            <a:off x="1382164" y="4024895"/>
            <a:ext cx="2037145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图表动态生成</a:t>
            </a:r>
            <a:endParaRPr lang="en-US" sz="16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 rot="5400000">
            <a:off x="667791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3">
              <a:alpha val="20000"/>
              <a:lumMod val="75000"/>
            </a:schemeClr>
          </a:solidFill>
        </p:spPr>
      </p:sp>
      <p:sp>
        <p:nvSpPr>
          <p:cNvPr id="26" name="TextBox 26"/>
          <p:cNvSpPr txBox="1"/>
          <p:nvPr/>
        </p:nvSpPr>
        <p:spPr>
          <a:xfrm>
            <a:off x="756538" y="458248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选择【插入】→【图表】，输入数据后自动生成柱状图/饼图等，利用【图表元素】按钮添加标题、数据标签，【图表样式】快速更换配色方案。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 rot="5400000">
            <a:off x="658476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3">
              <a:alpha val="100000"/>
              <a:lumMod val="75000"/>
            </a:schemeClr>
          </a:solidFill>
        </p:spPr>
      </p:sp>
      <p:sp>
        <p:nvSpPr>
          <p:cNvPr id="28" name="AutoShape 28"/>
          <p:cNvSpPr/>
          <p:nvPr/>
        </p:nvSpPr>
        <p:spPr>
          <a:xfrm>
            <a:off x="3628068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TextBox 29"/>
          <p:cNvSpPr txBox="1"/>
          <p:nvPr/>
        </p:nvSpPr>
        <p:spPr>
          <a:xfrm>
            <a:off x="4431599" y="4024895"/>
            <a:ext cx="2037145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行距精确控制</a:t>
            </a:r>
            <a:endParaRPr lang="en-US" sz="16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 rot="5400000">
            <a:off x="3717225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4">
              <a:alpha val="20000"/>
              <a:lumMod val="75000"/>
            </a:schemeClr>
          </a:solidFill>
        </p:spPr>
      </p:sp>
      <p:sp>
        <p:nvSpPr>
          <p:cNvPr id="31" name="TextBox 31"/>
          <p:cNvSpPr txBox="1"/>
          <p:nvPr/>
        </p:nvSpPr>
        <p:spPr>
          <a:xfrm>
            <a:off x="3805973" y="458248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全选表格后通过【段落】→【行距】设置固定值或多倍行距（如3倍），避免内容拥挤或跨页断裂。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 rot="5400000">
            <a:off x="3707910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4">
              <a:alpha val="100000"/>
              <a:lumMod val="75000"/>
            </a:schemeClr>
          </a:solidFill>
        </p:spPr>
      </p:sp>
      <p:sp>
        <p:nvSpPr>
          <p:cNvPr id="33" name="TextBox 33"/>
          <p:cNvSpPr txBox="1"/>
          <p:nvPr/>
        </p:nvSpPr>
        <p:spPr>
          <a:xfrm>
            <a:off x="3647118" y="157517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97683" y="402008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47118" y="402008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1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长文档排版与管理技巧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66708" y="1200845"/>
            <a:ext cx="10965082" cy="1676699"/>
          </a:xfrm>
          <a:prstGeom prst="rect">
            <a:avLst/>
          </a:prstGeom>
          <a:solidFill>
            <a:schemeClr val="lt2">
              <a:alpha val="37000"/>
            </a:schemeClr>
          </a:solidFill>
        </p:spPr>
      </p:sp>
      <p:sp>
        <p:nvSpPr>
          <p:cNvPr id="4" name="AutoShape 4"/>
          <p:cNvSpPr/>
          <p:nvPr/>
        </p:nvSpPr>
        <p:spPr>
          <a:xfrm rot="-8100000">
            <a:off x="280801" y="1653287"/>
            <a:ext cx="771814" cy="771814"/>
          </a:xfrm>
          <a:prstGeom prst="rtTriangle">
            <a:avLst/>
          </a:prstGeom>
          <a:solidFill>
            <a:schemeClr val="accent1">
              <a:alpha val="100000"/>
            </a:schemeClr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100000"/>
          </a:blip>
          <a:srcRect t="5062" b="5062"/>
          <a:stretch>
            <a:fillRect/>
          </a:stretch>
        </p:blipFill>
        <p:spPr>
          <a:xfrm>
            <a:off x="8550029" y="1334644"/>
            <a:ext cx="2846272" cy="1409101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68808" y="3026023"/>
            <a:ext cx="10965082" cy="167669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 rot="2700000">
            <a:off x="11245883" y="3478465"/>
            <a:ext cx="771814" cy="771814"/>
          </a:xfrm>
          <a:prstGeom prst="rtTriangle">
            <a:avLst/>
          </a:prstGeom>
          <a:solidFill>
            <a:schemeClr val="accent4">
              <a:alpha val="100000"/>
            </a:schemeClr>
          </a:solid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100000"/>
          </a:blip>
          <a:srcRect t="5994" b="5994"/>
          <a:stretch>
            <a:fillRect/>
          </a:stretch>
        </p:blipFill>
        <p:spPr>
          <a:xfrm>
            <a:off x="885002" y="3159821"/>
            <a:ext cx="2846272" cy="1409101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4216" y="4851200"/>
            <a:ext cx="10965082" cy="1676699"/>
          </a:xfrm>
          <a:prstGeom prst="rect">
            <a:avLst/>
          </a:prstGeom>
          <a:solidFill>
            <a:schemeClr val="lt2">
              <a:alpha val="35000"/>
            </a:schemeClr>
          </a:solidFill>
        </p:spPr>
      </p:sp>
      <p:sp>
        <p:nvSpPr>
          <p:cNvPr id="10" name="AutoShape 10"/>
          <p:cNvSpPr/>
          <p:nvPr/>
        </p:nvSpPr>
        <p:spPr>
          <a:xfrm rot="-8100000">
            <a:off x="298309" y="5303643"/>
            <a:ext cx="771814" cy="771814"/>
          </a:xfrm>
          <a:prstGeom prst="rtTriangle">
            <a:avLst/>
          </a:prstGeom>
          <a:solidFill>
            <a:schemeClr val="accent6">
              <a:alpha val="100000"/>
            </a:schemeClr>
          </a:solidFill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100000"/>
          </a:blip>
          <a:srcRect t="12861" b="12861"/>
          <a:stretch>
            <a:fillRect/>
          </a:stretch>
        </p:blipFill>
        <p:spPr>
          <a:xfrm>
            <a:off x="8567537" y="4985000"/>
            <a:ext cx="2846272" cy="1409101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59434" y="1444542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分节符应用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419388" y="1937100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使用【布局】→【分隔符】插入分节符，独立设置各章节页眉页脚、页码格式（罗马数字/阿拉伯数字切换），适合论文/报告排版。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102224" y="3762278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套用标题样式（标题1/标题2）后，通过【视图】→【导航窗格】快速跳转章节，自动生成目录时确保层级准确。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36896" y="5587455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为关键段落添加书签，通过【插入】→【链接】创建目录跳转或跨文档引用，提升长文档交互性。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151488" y="3269720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标题导航窗格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86063" y="5094898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书签与超链接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585" y="1029917"/>
            <a:ext cx="8686800" cy="13430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8475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8475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97052" y="2763839"/>
            <a:ext cx="8024317" cy="187261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5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Excel数据处理与分析</a:t>
            </a:r>
            <a:endParaRPr lang="en-US" sz="45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033917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1097052" y="5602490"/>
            <a:ext cx="3105150" cy="4667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Chapter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>
            <a:off x="3377035" y="5849950"/>
            <a:ext cx="8820012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Freeform 7"/>
          <p:cNvSpPr/>
          <p:nvPr/>
        </p:nvSpPr>
        <p:spPr>
          <a:xfrm>
            <a:off x="2862358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Freeform 8"/>
          <p:cNvSpPr/>
          <p:nvPr/>
        </p:nvSpPr>
        <p:spPr>
          <a:xfrm>
            <a:off x="2690798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97052" y="1098977"/>
            <a:ext cx="1335306" cy="1335306"/>
          </a:xfrm>
          <a:prstGeom prst="roundRect">
            <a:avLst>
              <a:gd name="adj" fmla="val 8841"/>
            </a:avLst>
          </a:prstGeom>
          <a:gradFill>
            <a:gsLst>
              <a:gs pos="0">
                <a:schemeClr val="accent1">
                  <a:alpha val="100000"/>
                  <a:lumMod val="85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effectLst>
            <a:outerShdw blurRad="203200" dist="101600" dir="2700000">
              <a:srgbClr val="000000">
                <a:alpha val="30000"/>
              </a:srgbClr>
            </a:outerShdw>
          </a:effectLst>
        </p:spPr>
      </p:sp>
      <p:grpSp>
        <p:nvGrpSpPr>
          <p:cNvPr id="10" name="Group 10"/>
          <p:cNvGrpSpPr/>
          <p:nvPr/>
        </p:nvGrpSpPr>
        <p:grpSpPr>
          <a:xfrm rot="0">
            <a:off x="1133886" y="1135811"/>
            <a:ext cx="1261638" cy="1261638"/>
            <a:chOff x="1133886" y="1135811"/>
            <a:chExt cx="1261638" cy="1261638"/>
          </a:xfrm>
        </p:grpSpPr>
        <p:sp>
          <p:nvSpPr>
            <p:cNvPr id="11" name="Freeform 11"/>
            <p:cNvSpPr/>
            <p:nvPr/>
          </p:nvSpPr>
          <p:spPr>
            <a:xfrm>
              <a:off x="1133886" y="1135811"/>
              <a:ext cx="1261638" cy="1261638"/>
            </a:xfrm>
            <a:custGeom>
              <a:avLst/>
              <a:gdLst/>
              <a:ahLst/>
              <a:cxnLst/>
              <a:rect l="l" t="t" r="r" b="b"/>
              <a:pathLst>
                <a:path w="1625021" h="1625022">
                  <a:moveTo>
                    <a:pt x="247132" y="108611"/>
                  </a:moveTo>
                  <a:cubicBezTo>
                    <a:pt x="173259" y="108611"/>
                    <a:pt x="113373" y="168497"/>
                    <a:pt x="113373" y="242370"/>
                  </a:cubicBezTo>
                  <a:lnTo>
                    <a:pt x="113373" y="1373126"/>
                  </a:lnTo>
                  <a:cubicBezTo>
                    <a:pt x="113373" y="1446999"/>
                    <a:pt x="173259" y="1506885"/>
                    <a:pt x="247132" y="1506885"/>
                  </a:cubicBezTo>
                  <a:lnTo>
                    <a:pt x="1377888" y="1506885"/>
                  </a:lnTo>
                  <a:cubicBezTo>
                    <a:pt x="1451761" y="1506885"/>
                    <a:pt x="1511647" y="1446999"/>
                    <a:pt x="1511647" y="1373126"/>
                  </a:cubicBezTo>
                  <a:lnTo>
                    <a:pt x="1511647" y="242370"/>
                  </a:lnTo>
                  <a:cubicBezTo>
                    <a:pt x="1511647" y="168497"/>
                    <a:pt x="1451761" y="108611"/>
                    <a:pt x="1377888" y="108611"/>
                  </a:cubicBezTo>
                  <a:close/>
                  <a:moveTo>
                    <a:pt x="143668" y="0"/>
                  </a:moveTo>
                  <a:lnTo>
                    <a:pt x="1481353" y="0"/>
                  </a:lnTo>
                  <a:cubicBezTo>
                    <a:pt x="1560699" y="0"/>
                    <a:pt x="1625021" y="64322"/>
                    <a:pt x="1625021" y="143668"/>
                  </a:cubicBezTo>
                  <a:lnTo>
                    <a:pt x="1625021" y="1481354"/>
                  </a:lnTo>
                  <a:cubicBezTo>
                    <a:pt x="1625021" y="1560700"/>
                    <a:pt x="1560699" y="1625022"/>
                    <a:pt x="1481353" y="1625022"/>
                  </a:cubicBezTo>
                  <a:lnTo>
                    <a:pt x="143668" y="1625022"/>
                  </a:lnTo>
                  <a:cubicBezTo>
                    <a:pt x="64322" y="1625022"/>
                    <a:pt x="0" y="1560700"/>
                    <a:pt x="0" y="1481354"/>
                  </a:cubicBezTo>
                  <a:lnTo>
                    <a:pt x="0" y="143668"/>
                  </a:lnTo>
                  <a:cubicBezTo>
                    <a:pt x="0" y="64322"/>
                    <a:pt x="64322" y="0"/>
                    <a:pt x="143668" y="0"/>
                  </a:cubicBezTo>
                  <a:close/>
                </a:path>
              </a:pathLst>
            </a:custGeom>
            <a:solidFill>
              <a:schemeClr val="accent1">
                <a:alpha val="100000"/>
                <a:lumMod val="95000"/>
              </a:schemeClr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1133886" y="1135811"/>
              <a:ext cx="1261638" cy="1261638"/>
            </a:xfrm>
            <a:prstGeom prst="roundRect">
              <a:avLst>
                <a:gd name="adj" fmla="val 8841"/>
              </a:avLst>
            </a:prstGeom>
            <a:noFill/>
          </p:spPr>
        </p:sp>
        <p:sp>
          <p:nvSpPr>
            <p:cNvPr id="13" name="AutoShape 13"/>
            <p:cNvSpPr/>
            <p:nvPr/>
          </p:nvSpPr>
          <p:spPr>
            <a:xfrm>
              <a:off x="1221928" y="1223852"/>
              <a:ext cx="1085633" cy="1085633"/>
            </a:xfrm>
            <a:prstGeom prst="roundRect">
              <a:avLst>
                <a:gd name="adj" fmla="val 9566"/>
              </a:avLst>
            </a:prstGeom>
            <a:noFill/>
          </p:spPr>
        </p:sp>
      </p:grpSp>
      <p:sp>
        <p:nvSpPr>
          <p:cNvPr id="14" name="Freeform 14"/>
          <p:cNvSpPr/>
          <p:nvPr/>
        </p:nvSpPr>
        <p:spPr>
          <a:xfrm>
            <a:off x="1342916" y="1576096"/>
            <a:ext cx="843579" cy="577491"/>
          </a:xfrm>
          <a:custGeom>
            <a:avLst/>
            <a:gdLst/>
            <a:ahLst/>
            <a:cxnLst/>
            <a:rect l="l" t="t" r="r" b="b"/>
            <a:pathLst>
              <a:path w="3113" h="2131">
                <a:moveTo>
                  <a:pt x="3057" y="497"/>
                </a:moveTo>
                <a:cubicBezTo>
                  <a:pt x="1582" y="5"/>
                  <a:pt x="1582" y="5"/>
                  <a:pt x="1582" y="5"/>
                </a:cubicBezTo>
                <a:cubicBezTo>
                  <a:pt x="1565" y="0"/>
                  <a:pt x="1547" y="0"/>
                  <a:pt x="1531" y="5"/>
                </a:cubicBezTo>
                <a:cubicBezTo>
                  <a:pt x="56" y="497"/>
                  <a:pt x="56" y="497"/>
                  <a:pt x="56" y="497"/>
                </a:cubicBezTo>
                <a:cubicBezTo>
                  <a:pt x="23" y="508"/>
                  <a:pt x="0" y="539"/>
                  <a:pt x="0" y="574"/>
                </a:cubicBezTo>
                <a:cubicBezTo>
                  <a:pt x="0" y="610"/>
                  <a:pt x="23" y="641"/>
                  <a:pt x="56" y="652"/>
                </a:cubicBezTo>
                <a:cubicBezTo>
                  <a:pt x="492" y="797"/>
                  <a:pt x="492" y="797"/>
                  <a:pt x="492" y="797"/>
                </a:cubicBezTo>
                <a:cubicBezTo>
                  <a:pt x="492" y="1230"/>
                  <a:pt x="492" y="1230"/>
                  <a:pt x="492" y="1230"/>
                </a:cubicBezTo>
                <a:cubicBezTo>
                  <a:pt x="492" y="1252"/>
                  <a:pt x="500" y="1272"/>
                  <a:pt x="515" y="1288"/>
                </a:cubicBezTo>
                <a:cubicBezTo>
                  <a:pt x="530" y="1302"/>
                  <a:pt x="875" y="1639"/>
                  <a:pt x="1556" y="1639"/>
                </a:cubicBezTo>
                <a:cubicBezTo>
                  <a:pt x="1804" y="1639"/>
                  <a:pt x="2036" y="1595"/>
                  <a:pt x="2244" y="1507"/>
                </a:cubicBezTo>
                <a:cubicBezTo>
                  <a:pt x="2285" y="1489"/>
                  <a:pt x="2305" y="1441"/>
                  <a:pt x="2287" y="1399"/>
                </a:cubicBezTo>
                <a:cubicBezTo>
                  <a:pt x="2270" y="1358"/>
                  <a:pt x="2222" y="1338"/>
                  <a:pt x="2180" y="1356"/>
                </a:cubicBezTo>
                <a:cubicBezTo>
                  <a:pt x="1992" y="1435"/>
                  <a:pt x="1782" y="1475"/>
                  <a:pt x="1557" y="1475"/>
                </a:cubicBezTo>
                <a:cubicBezTo>
                  <a:pt x="1238" y="1475"/>
                  <a:pt x="1004" y="1393"/>
                  <a:pt x="863" y="1324"/>
                </a:cubicBezTo>
                <a:cubicBezTo>
                  <a:pt x="759" y="1272"/>
                  <a:pt x="689" y="1221"/>
                  <a:pt x="656" y="1193"/>
                </a:cubicBezTo>
                <a:cubicBezTo>
                  <a:pt x="656" y="852"/>
                  <a:pt x="656" y="852"/>
                  <a:pt x="656" y="852"/>
                </a:cubicBezTo>
                <a:cubicBezTo>
                  <a:pt x="1531" y="1144"/>
                  <a:pt x="1531" y="1144"/>
                  <a:pt x="1531" y="1144"/>
                </a:cubicBezTo>
                <a:cubicBezTo>
                  <a:pt x="1539" y="1146"/>
                  <a:pt x="1548" y="1148"/>
                  <a:pt x="1557" y="1148"/>
                </a:cubicBezTo>
                <a:cubicBezTo>
                  <a:pt x="1565" y="1148"/>
                  <a:pt x="1574" y="1146"/>
                  <a:pt x="1583" y="1144"/>
                </a:cubicBezTo>
                <a:cubicBezTo>
                  <a:pt x="2458" y="852"/>
                  <a:pt x="2458" y="852"/>
                  <a:pt x="2458" y="852"/>
                </a:cubicBezTo>
                <a:cubicBezTo>
                  <a:pt x="2458" y="998"/>
                  <a:pt x="2458" y="998"/>
                  <a:pt x="2458" y="998"/>
                </a:cubicBezTo>
                <a:cubicBezTo>
                  <a:pt x="2362" y="1032"/>
                  <a:pt x="2294" y="1123"/>
                  <a:pt x="2294" y="1230"/>
                </a:cubicBezTo>
                <a:cubicBezTo>
                  <a:pt x="2294" y="1330"/>
                  <a:pt x="2354" y="1416"/>
                  <a:pt x="2440" y="1454"/>
                </a:cubicBezTo>
                <a:cubicBezTo>
                  <a:pt x="2296" y="2029"/>
                  <a:pt x="2296" y="2029"/>
                  <a:pt x="2296" y="2029"/>
                </a:cubicBezTo>
                <a:cubicBezTo>
                  <a:pt x="2290" y="2053"/>
                  <a:pt x="2296" y="2080"/>
                  <a:pt x="2311" y="2099"/>
                </a:cubicBezTo>
                <a:cubicBezTo>
                  <a:pt x="2327" y="2119"/>
                  <a:pt x="2351" y="2131"/>
                  <a:pt x="2376" y="2131"/>
                </a:cubicBezTo>
                <a:cubicBezTo>
                  <a:pt x="2704" y="2131"/>
                  <a:pt x="2704" y="2131"/>
                  <a:pt x="2704" y="2131"/>
                </a:cubicBezTo>
                <a:cubicBezTo>
                  <a:pt x="2729" y="2131"/>
                  <a:pt x="2753" y="2119"/>
                  <a:pt x="2768" y="2099"/>
                </a:cubicBezTo>
                <a:cubicBezTo>
                  <a:pt x="2784" y="2080"/>
                  <a:pt x="2789" y="2053"/>
                  <a:pt x="2783" y="2029"/>
                </a:cubicBezTo>
                <a:cubicBezTo>
                  <a:pt x="2639" y="1454"/>
                  <a:pt x="2639" y="1454"/>
                  <a:pt x="2639" y="1454"/>
                </a:cubicBezTo>
                <a:cubicBezTo>
                  <a:pt x="2725" y="1416"/>
                  <a:pt x="2785" y="1330"/>
                  <a:pt x="2785" y="1230"/>
                </a:cubicBezTo>
                <a:cubicBezTo>
                  <a:pt x="2785" y="1123"/>
                  <a:pt x="2717" y="1032"/>
                  <a:pt x="2622" y="998"/>
                </a:cubicBezTo>
                <a:cubicBezTo>
                  <a:pt x="2622" y="797"/>
                  <a:pt x="2622" y="797"/>
                  <a:pt x="2622" y="797"/>
                </a:cubicBezTo>
                <a:cubicBezTo>
                  <a:pt x="3057" y="652"/>
                  <a:pt x="3057" y="652"/>
                  <a:pt x="3057" y="652"/>
                </a:cubicBezTo>
                <a:cubicBezTo>
                  <a:pt x="3091" y="641"/>
                  <a:pt x="3113" y="610"/>
                  <a:pt x="3113" y="574"/>
                </a:cubicBezTo>
                <a:cubicBezTo>
                  <a:pt x="3113" y="539"/>
                  <a:pt x="3091" y="508"/>
                  <a:pt x="3057" y="497"/>
                </a:cubicBezTo>
                <a:close/>
                <a:moveTo>
                  <a:pt x="2540" y="1148"/>
                </a:moveTo>
                <a:cubicBezTo>
                  <a:pt x="2585" y="1148"/>
                  <a:pt x="2621" y="1184"/>
                  <a:pt x="2621" y="1230"/>
                </a:cubicBezTo>
                <a:cubicBezTo>
                  <a:pt x="2621" y="1275"/>
                  <a:pt x="2585" y="1312"/>
                  <a:pt x="2540" y="1312"/>
                </a:cubicBezTo>
                <a:cubicBezTo>
                  <a:pt x="2494" y="1312"/>
                  <a:pt x="2458" y="1275"/>
                  <a:pt x="2458" y="1230"/>
                </a:cubicBezTo>
                <a:cubicBezTo>
                  <a:pt x="2458" y="1184"/>
                  <a:pt x="2494" y="1148"/>
                  <a:pt x="2540" y="1148"/>
                </a:cubicBezTo>
                <a:close/>
                <a:moveTo>
                  <a:pt x="2481" y="1967"/>
                </a:moveTo>
                <a:cubicBezTo>
                  <a:pt x="2540" y="1731"/>
                  <a:pt x="2540" y="1731"/>
                  <a:pt x="2540" y="1731"/>
                </a:cubicBezTo>
                <a:cubicBezTo>
                  <a:pt x="2599" y="1967"/>
                  <a:pt x="2599" y="1967"/>
                  <a:pt x="2599" y="1967"/>
                </a:cubicBezTo>
                <a:cubicBezTo>
                  <a:pt x="2481" y="1967"/>
                  <a:pt x="2481" y="1967"/>
                  <a:pt x="2481" y="1967"/>
                </a:cubicBezTo>
                <a:close/>
                <a:moveTo>
                  <a:pt x="2533" y="654"/>
                </a:moveTo>
                <a:cubicBezTo>
                  <a:pt x="1570" y="493"/>
                  <a:pt x="1570" y="493"/>
                  <a:pt x="1570" y="493"/>
                </a:cubicBezTo>
                <a:cubicBezTo>
                  <a:pt x="1525" y="486"/>
                  <a:pt x="1483" y="516"/>
                  <a:pt x="1476" y="561"/>
                </a:cubicBezTo>
                <a:cubicBezTo>
                  <a:pt x="1469" y="605"/>
                  <a:pt x="1499" y="648"/>
                  <a:pt x="1543" y="655"/>
                </a:cubicBezTo>
                <a:cubicBezTo>
                  <a:pt x="2201" y="765"/>
                  <a:pt x="2201" y="765"/>
                  <a:pt x="2201" y="765"/>
                </a:cubicBezTo>
                <a:cubicBezTo>
                  <a:pt x="1557" y="979"/>
                  <a:pt x="1557" y="979"/>
                  <a:pt x="1557" y="979"/>
                </a:cubicBezTo>
                <a:cubicBezTo>
                  <a:pt x="341" y="574"/>
                  <a:pt x="341" y="574"/>
                  <a:pt x="341" y="574"/>
                </a:cubicBezTo>
                <a:cubicBezTo>
                  <a:pt x="1557" y="169"/>
                  <a:pt x="1557" y="169"/>
                  <a:pt x="1557" y="169"/>
                </a:cubicBezTo>
                <a:cubicBezTo>
                  <a:pt x="2772" y="574"/>
                  <a:pt x="2772" y="574"/>
                  <a:pt x="2772" y="574"/>
                </a:cubicBezTo>
                <a:cubicBezTo>
                  <a:pt x="2533" y="654"/>
                  <a:pt x="2533" y="654"/>
                  <a:pt x="2533" y="654"/>
                </a:cubicBezTo>
                <a:close/>
                <a:moveTo>
                  <a:pt x="2533" y="654"/>
                </a:moveTo>
                <a:cubicBezTo>
                  <a:pt x="2533" y="654"/>
                  <a:pt x="2533" y="654"/>
                  <a:pt x="2533" y="654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 t="-186" b="-186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基础函数与公式应用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14667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831204" y="4300661"/>
            <a:ext cx="3039989" cy="16563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IF函数可与AND/OR函数组合实现多条件判断，例如=IF(AND(A2&gt;60,B2="通过"),"合格","")，需注意嵌套层级不超过7层的限制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31204" y="3584541"/>
            <a:ext cx="3039989" cy="61244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逻辑函数嵌套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59469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7" name="TextBox 7"/>
          <p:cNvSpPr txBox="1"/>
          <p:nvPr/>
        </p:nvSpPr>
        <p:spPr>
          <a:xfrm>
            <a:off x="4576006" y="4300661"/>
            <a:ext cx="3039989" cy="16563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AVERAGE与SUM函数常嵌套在条件判断中，如=IF(AVERAGE(B2:B10)&gt;80,SUM(C2:C10),0)，要求嵌套函数返回值类型必须匹配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76006" y="3584541"/>
            <a:ext cx="3039989" cy="61244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统计函数组合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04272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79000"/>
            </a:schemeClr>
          </a:solidFill>
        </p:spPr>
      </p:sp>
      <p:sp>
        <p:nvSpPr>
          <p:cNvPr id="10" name="TextBox 10"/>
          <p:cNvSpPr txBox="1"/>
          <p:nvPr/>
        </p:nvSpPr>
        <p:spPr>
          <a:xfrm>
            <a:off x="8320808" y="4300661"/>
            <a:ext cx="3039989" cy="16563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FILTER函数支持多对多条件筛选，需确保筛选区域与条件区域维度一致，避免#VALUE!错误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20808" y="3584541"/>
            <a:ext cx="3039989" cy="61244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动态数组函数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 l="21948" r="21948"/>
          <a:stretch>
            <a:fillRect/>
          </a:stretch>
        </p:blipFill>
        <p:spPr>
          <a:xfrm>
            <a:off x="8834133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23204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12275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51873" y="1812219"/>
            <a:ext cx="3287800" cy="3946292"/>
          </a:xfrm>
          <a:prstGeom prst="rect">
            <a:avLst/>
          </a:prstGeom>
          <a:noFill/>
        </p:spPr>
      </p:pic>
      <p:sp>
        <p:nvSpPr>
          <p:cNvPr id="3" name="TextBox 3"/>
          <p:cNvSpPr txBox="1"/>
          <p:nvPr/>
        </p:nvSpPr>
        <p:spPr>
          <a:xfrm>
            <a:off x="595787" y="1726745"/>
            <a:ext cx="3550411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图表类型选择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8933" y="2298345"/>
            <a:ext cx="3344120" cy="1504071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比较数据用柱形图/条形图，趋势分析用折线图，占比展示用饼图，相关关系用散点图，需根据数据特征匹配最佳表现形式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65494" y="1713967"/>
            <a:ext cx="3583632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重点数据突出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211865" y="2285568"/>
            <a:ext cx="3290891" cy="151684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通过RGB标准配色方案将关键数据标记为深色，次要数据设为浅色，例如用对比色突出同比增长异常值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95787" y="4317136"/>
            <a:ext cx="3550411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组合图表技巧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2714" y="4807470"/>
            <a:ext cx="3316558" cy="138430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Alt+F1快速生成默认柱状图后，可叠加折线图展示双指标，需同步调整次坐标轴刻度保证数据可比性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72345" y="4317136"/>
            <a:ext cx="3676782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高级图表元素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65290" y="4823328"/>
            <a:ext cx="3290891" cy="136844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添加数据标签、误差线、趋势线时需确保说明文字清晰，避免图表信息过载影响可读性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数据可视化与图表制作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数据透视表使用技巧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145518" y="1368625"/>
            <a:ext cx="9900511" cy="4391356"/>
          </a:xfrm>
          <a:prstGeom prst="roundRect">
            <a:avLst>
              <a:gd name="adj" fmla="val 6363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</p:sp>
      <p:sp>
        <p:nvSpPr>
          <p:cNvPr id="5" name="AutoShape 5"/>
          <p:cNvSpPr/>
          <p:nvPr/>
        </p:nvSpPr>
        <p:spPr>
          <a:xfrm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</p:sp>
      <p:sp>
        <p:nvSpPr>
          <p:cNvPr id="6" name="AutoShape 6"/>
          <p:cNvSpPr/>
          <p:nvPr/>
        </p:nvSpPr>
        <p:spPr>
          <a:xfrm>
            <a:off x="7861021" y="1599594"/>
            <a:ext cx="2967836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计算字段应用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861021" y="2092152"/>
            <a:ext cx="2967836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在"分析"选项卡中添加计算字段，可构建占比、环比等衍生指标而不影响源数据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100000"/>
          </a:blip>
          <a:srcRect t="12116" b="12116"/>
          <a:stretch>
            <a:fillRect/>
          </a:stretch>
        </p:blipFill>
        <p:spPr>
          <a:xfrm>
            <a:off x="8089903" y="3872142"/>
            <a:ext cx="2510071" cy="1267871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11" name="AutoShape 11"/>
          <p:cNvSpPr/>
          <p:nvPr/>
        </p:nvSpPr>
        <p:spPr>
          <a:xfrm>
            <a:off x="4619178" y="1616124"/>
            <a:ext cx="2913571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数据分组功能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619178" y="2108682"/>
            <a:ext cx="2913571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对日期字段右键分组可实现按年/季度/月汇总，对数值字段分组可自定义区间进行分段统计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4806514" y="3896014"/>
            <a:ext cx="2726235" cy="1484651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17" name="Freeform 17"/>
          <p:cNvSpPr/>
          <p:nvPr/>
        </p:nvSpPr>
        <p:spPr>
          <a:xfrm>
            <a:off x="5972877" y="5366195"/>
            <a:ext cx="393511" cy="39351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9165292" y="5094559"/>
            <a:ext cx="359293" cy="35929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w="304800" h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w="304800" h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9" name="AutoShape 19"/>
          <p:cNvSpPr/>
          <p:nvPr/>
        </p:nvSpPr>
        <p:spPr>
          <a:xfrm>
            <a:off x="1378393" y="1632654"/>
            <a:ext cx="2955042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字段布局优化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471799" y="2125212"/>
            <a:ext cx="2768229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将关键指标放入"值"区域，分类维度拖至"行/列"区域，通过拖拽调整可快速切换分析视角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alphaModFix amt="100000"/>
          </a:blip>
          <a:srcRect t="24216" b="24216"/>
          <a:stretch>
            <a:fillRect/>
          </a:stretch>
        </p:blipFill>
        <p:spPr>
          <a:xfrm>
            <a:off x="1617020" y="3905202"/>
            <a:ext cx="2458663" cy="1267871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AutoShape 24"/>
          <p:cNvSpPr/>
          <p:nvPr/>
        </p:nvSpPr>
        <p:spPr>
          <a:xfrm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25" name="Freeform 25"/>
          <p:cNvSpPr/>
          <p:nvPr/>
        </p:nvSpPr>
        <p:spPr>
          <a:xfrm>
            <a:off x="2582871" y="5053309"/>
            <a:ext cx="526963" cy="52696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585" y="1029917"/>
            <a:ext cx="8686800" cy="13430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8475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8475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97052" y="2763839"/>
            <a:ext cx="8024317" cy="187261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5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PowerPoint演示制作</a:t>
            </a:r>
            <a:endParaRPr lang="en-US" sz="45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033917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1097052" y="5602490"/>
            <a:ext cx="3105150" cy="4667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Chapter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>
            <a:off x="3377035" y="5849950"/>
            <a:ext cx="8820012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Freeform 7"/>
          <p:cNvSpPr/>
          <p:nvPr/>
        </p:nvSpPr>
        <p:spPr>
          <a:xfrm>
            <a:off x="2862358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Freeform 8"/>
          <p:cNvSpPr/>
          <p:nvPr/>
        </p:nvSpPr>
        <p:spPr>
          <a:xfrm>
            <a:off x="2690798" y="5678391"/>
            <a:ext cx="343119" cy="343119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762000" y="0"/>
                </a:lnTo>
                <a:lnTo>
                  <a:pt x="1905000" y="952500"/>
                </a:lnTo>
                <a:lnTo>
                  <a:pt x="762000" y="1905000"/>
                </a:lnTo>
                <a:lnTo>
                  <a:pt x="0" y="1905000"/>
                </a:lnTo>
                <a:lnTo>
                  <a:pt x="1143000" y="952500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97052" y="1098977"/>
            <a:ext cx="1335306" cy="1335306"/>
          </a:xfrm>
          <a:prstGeom prst="roundRect">
            <a:avLst>
              <a:gd name="adj" fmla="val 8841"/>
            </a:avLst>
          </a:prstGeom>
          <a:gradFill>
            <a:gsLst>
              <a:gs pos="0">
                <a:schemeClr val="accent1">
                  <a:alpha val="100000"/>
                  <a:lumMod val="85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effectLst>
            <a:outerShdw blurRad="203200" dist="101600" dir="2700000">
              <a:srgbClr val="000000">
                <a:alpha val="30000"/>
              </a:srgbClr>
            </a:outerShdw>
          </a:effectLst>
        </p:spPr>
      </p:sp>
      <p:grpSp>
        <p:nvGrpSpPr>
          <p:cNvPr id="10" name="Group 10"/>
          <p:cNvGrpSpPr/>
          <p:nvPr/>
        </p:nvGrpSpPr>
        <p:grpSpPr>
          <a:xfrm rot="0">
            <a:off x="1133886" y="1135811"/>
            <a:ext cx="1261638" cy="1261638"/>
            <a:chOff x="1133886" y="1135811"/>
            <a:chExt cx="1261638" cy="1261638"/>
          </a:xfrm>
        </p:grpSpPr>
        <p:sp>
          <p:nvSpPr>
            <p:cNvPr id="11" name="Freeform 11"/>
            <p:cNvSpPr/>
            <p:nvPr/>
          </p:nvSpPr>
          <p:spPr>
            <a:xfrm>
              <a:off x="1133886" y="1135811"/>
              <a:ext cx="1261638" cy="1261638"/>
            </a:xfrm>
            <a:custGeom>
              <a:avLst/>
              <a:gdLst/>
              <a:ahLst/>
              <a:cxnLst/>
              <a:rect l="l" t="t" r="r" b="b"/>
              <a:pathLst>
                <a:path w="1625021" h="1625022">
                  <a:moveTo>
                    <a:pt x="247132" y="108611"/>
                  </a:moveTo>
                  <a:cubicBezTo>
                    <a:pt x="173259" y="108611"/>
                    <a:pt x="113373" y="168497"/>
                    <a:pt x="113373" y="242370"/>
                  </a:cubicBezTo>
                  <a:lnTo>
                    <a:pt x="113373" y="1373126"/>
                  </a:lnTo>
                  <a:cubicBezTo>
                    <a:pt x="113373" y="1446999"/>
                    <a:pt x="173259" y="1506885"/>
                    <a:pt x="247132" y="1506885"/>
                  </a:cubicBezTo>
                  <a:lnTo>
                    <a:pt x="1377888" y="1506885"/>
                  </a:lnTo>
                  <a:cubicBezTo>
                    <a:pt x="1451761" y="1506885"/>
                    <a:pt x="1511647" y="1446999"/>
                    <a:pt x="1511647" y="1373126"/>
                  </a:cubicBezTo>
                  <a:lnTo>
                    <a:pt x="1511647" y="242370"/>
                  </a:lnTo>
                  <a:cubicBezTo>
                    <a:pt x="1511647" y="168497"/>
                    <a:pt x="1451761" y="108611"/>
                    <a:pt x="1377888" y="108611"/>
                  </a:cubicBezTo>
                  <a:close/>
                  <a:moveTo>
                    <a:pt x="143668" y="0"/>
                  </a:moveTo>
                  <a:lnTo>
                    <a:pt x="1481353" y="0"/>
                  </a:lnTo>
                  <a:cubicBezTo>
                    <a:pt x="1560699" y="0"/>
                    <a:pt x="1625021" y="64322"/>
                    <a:pt x="1625021" y="143668"/>
                  </a:cubicBezTo>
                  <a:lnTo>
                    <a:pt x="1625021" y="1481354"/>
                  </a:lnTo>
                  <a:cubicBezTo>
                    <a:pt x="1625021" y="1560700"/>
                    <a:pt x="1560699" y="1625022"/>
                    <a:pt x="1481353" y="1625022"/>
                  </a:cubicBezTo>
                  <a:lnTo>
                    <a:pt x="143668" y="1625022"/>
                  </a:lnTo>
                  <a:cubicBezTo>
                    <a:pt x="64322" y="1625022"/>
                    <a:pt x="0" y="1560700"/>
                    <a:pt x="0" y="1481354"/>
                  </a:cubicBezTo>
                  <a:lnTo>
                    <a:pt x="0" y="143668"/>
                  </a:lnTo>
                  <a:cubicBezTo>
                    <a:pt x="0" y="64322"/>
                    <a:pt x="64322" y="0"/>
                    <a:pt x="143668" y="0"/>
                  </a:cubicBezTo>
                  <a:close/>
                </a:path>
              </a:pathLst>
            </a:custGeom>
            <a:solidFill>
              <a:schemeClr val="accent1">
                <a:alpha val="100000"/>
                <a:lumMod val="95000"/>
              </a:schemeClr>
            </a:solidFill>
          </p:spPr>
        </p:sp>
        <p:sp>
          <p:nvSpPr>
            <p:cNvPr id="12" name="AutoShape 12"/>
            <p:cNvSpPr/>
            <p:nvPr/>
          </p:nvSpPr>
          <p:spPr>
            <a:xfrm>
              <a:off x="1133886" y="1135811"/>
              <a:ext cx="1261638" cy="1261638"/>
            </a:xfrm>
            <a:prstGeom prst="roundRect">
              <a:avLst>
                <a:gd name="adj" fmla="val 8841"/>
              </a:avLst>
            </a:prstGeom>
            <a:noFill/>
          </p:spPr>
        </p:sp>
        <p:sp>
          <p:nvSpPr>
            <p:cNvPr id="13" name="AutoShape 13"/>
            <p:cNvSpPr/>
            <p:nvPr/>
          </p:nvSpPr>
          <p:spPr>
            <a:xfrm>
              <a:off x="1221928" y="1223852"/>
              <a:ext cx="1085633" cy="1085633"/>
            </a:xfrm>
            <a:prstGeom prst="roundRect">
              <a:avLst>
                <a:gd name="adj" fmla="val 9566"/>
              </a:avLst>
            </a:prstGeom>
            <a:noFill/>
          </p:spPr>
        </p:sp>
      </p:grpSp>
      <p:sp>
        <p:nvSpPr>
          <p:cNvPr id="14" name="Freeform 14"/>
          <p:cNvSpPr/>
          <p:nvPr/>
        </p:nvSpPr>
        <p:spPr>
          <a:xfrm>
            <a:off x="1342916" y="1576096"/>
            <a:ext cx="843579" cy="577491"/>
          </a:xfrm>
          <a:custGeom>
            <a:avLst/>
            <a:gdLst/>
            <a:ahLst/>
            <a:cxnLst/>
            <a:rect l="l" t="t" r="r" b="b"/>
            <a:pathLst>
              <a:path w="3113" h="2131">
                <a:moveTo>
                  <a:pt x="3057" y="497"/>
                </a:moveTo>
                <a:cubicBezTo>
                  <a:pt x="1582" y="5"/>
                  <a:pt x="1582" y="5"/>
                  <a:pt x="1582" y="5"/>
                </a:cubicBezTo>
                <a:cubicBezTo>
                  <a:pt x="1565" y="0"/>
                  <a:pt x="1547" y="0"/>
                  <a:pt x="1531" y="5"/>
                </a:cubicBezTo>
                <a:cubicBezTo>
                  <a:pt x="56" y="497"/>
                  <a:pt x="56" y="497"/>
                  <a:pt x="56" y="497"/>
                </a:cubicBezTo>
                <a:cubicBezTo>
                  <a:pt x="23" y="508"/>
                  <a:pt x="0" y="539"/>
                  <a:pt x="0" y="574"/>
                </a:cubicBezTo>
                <a:cubicBezTo>
                  <a:pt x="0" y="610"/>
                  <a:pt x="23" y="641"/>
                  <a:pt x="56" y="652"/>
                </a:cubicBezTo>
                <a:cubicBezTo>
                  <a:pt x="492" y="797"/>
                  <a:pt x="492" y="797"/>
                  <a:pt x="492" y="797"/>
                </a:cubicBezTo>
                <a:cubicBezTo>
                  <a:pt x="492" y="1230"/>
                  <a:pt x="492" y="1230"/>
                  <a:pt x="492" y="1230"/>
                </a:cubicBezTo>
                <a:cubicBezTo>
                  <a:pt x="492" y="1252"/>
                  <a:pt x="500" y="1272"/>
                  <a:pt x="515" y="1288"/>
                </a:cubicBezTo>
                <a:cubicBezTo>
                  <a:pt x="530" y="1302"/>
                  <a:pt x="875" y="1639"/>
                  <a:pt x="1556" y="1639"/>
                </a:cubicBezTo>
                <a:cubicBezTo>
                  <a:pt x="1804" y="1639"/>
                  <a:pt x="2036" y="1595"/>
                  <a:pt x="2244" y="1507"/>
                </a:cubicBezTo>
                <a:cubicBezTo>
                  <a:pt x="2285" y="1489"/>
                  <a:pt x="2305" y="1441"/>
                  <a:pt x="2287" y="1399"/>
                </a:cubicBezTo>
                <a:cubicBezTo>
                  <a:pt x="2270" y="1358"/>
                  <a:pt x="2222" y="1338"/>
                  <a:pt x="2180" y="1356"/>
                </a:cubicBezTo>
                <a:cubicBezTo>
                  <a:pt x="1992" y="1435"/>
                  <a:pt x="1782" y="1475"/>
                  <a:pt x="1557" y="1475"/>
                </a:cubicBezTo>
                <a:cubicBezTo>
                  <a:pt x="1238" y="1475"/>
                  <a:pt x="1004" y="1393"/>
                  <a:pt x="863" y="1324"/>
                </a:cubicBezTo>
                <a:cubicBezTo>
                  <a:pt x="759" y="1272"/>
                  <a:pt x="689" y="1221"/>
                  <a:pt x="656" y="1193"/>
                </a:cubicBezTo>
                <a:cubicBezTo>
                  <a:pt x="656" y="852"/>
                  <a:pt x="656" y="852"/>
                  <a:pt x="656" y="852"/>
                </a:cubicBezTo>
                <a:cubicBezTo>
                  <a:pt x="1531" y="1144"/>
                  <a:pt x="1531" y="1144"/>
                  <a:pt x="1531" y="1144"/>
                </a:cubicBezTo>
                <a:cubicBezTo>
                  <a:pt x="1539" y="1146"/>
                  <a:pt x="1548" y="1148"/>
                  <a:pt x="1557" y="1148"/>
                </a:cubicBezTo>
                <a:cubicBezTo>
                  <a:pt x="1565" y="1148"/>
                  <a:pt x="1574" y="1146"/>
                  <a:pt x="1583" y="1144"/>
                </a:cubicBezTo>
                <a:cubicBezTo>
                  <a:pt x="2458" y="852"/>
                  <a:pt x="2458" y="852"/>
                  <a:pt x="2458" y="852"/>
                </a:cubicBezTo>
                <a:cubicBezTo>
                  <a:pt x="2458" y="998"/>
                  <a:pt x="2458" y="998"/>
                  <a:pt x="2458" y="998"/>
                </a:cubicBezTo>
                <a:cubicBezTo>
                  <a:pt x="2362" y="1032"/>
                  <a:pt x="2294" y="1123"/>
                  <a:pt x="2294" y="1230"/>
                </a:cubicBezTo>
                <a:cubicBezTo>
                  <a:pt x="2294" y="1330"/>
                  <a:pt x="2354" y="1416"/>
                  <a:pt x="2440" y="1454"/>
                </a:cubicBezTo>
                <a:cubicBezTo>
                  <a:pt x="2296" y="2029"/>
                  <a:pt x="2296" y="2029"/>
                  <a:pt x="2296" y="2029"/>
                </a:cubicBezTo>
                <a:cubicBezTo>
                  <a:pt x="2290" y="2053"/>
                  <a:pt x="2296" y="2080"/>
                  <a:pt x="2311" y="2099"/>
                </a:cubicBezTo>
                <a:cubicBezTo>
                  <a:pt x="2327" y="2119"/>
                  <a:pt x="2351" y="2131"/>
                  <a:pt x="2376" y="2131"/>
                </a:cubicBezTo>
                <a:cubicBezTo>
                  <a:pt x="2704" y="2131"/>
                  <a:pt x="2704" y="2131"/>
                  <a:pt x="2704" y="2131"/>
                </a:cubicBezTo>
                <a:cubicBezTo>
                  <a:pt x="2729" y="2131"/>
                  <a:pt x="2753" y="2119"/>
                  <a:pt x="2768" y="2099"/>
                </a:cubicBezTo>
                <a:cubicBezTo>
                  <a:pt x="2784" y="2080"/>
                  <a:pt x="2789" y="2053"/>
                  <a:pt x="2783" y="2029"/>
                </a:cubicBezTo>
                <a:cubicBezTo>
                  <a:pt x="2639" y="1454"/>
                  <a:pt x="2639" y="1454"/>
                  <a:pt x="2639" y="1454"/>
                </a:cubicBezTo>
                <a:cubicBezTo>
                  <a:pt x="2725" y="1416"/>
                  <a:pt x="2785" y="1330"/>
                  <a:pt x="2785" y="1230"/>
                </a:cubicBezTo>
                <a:cubicBezTo>
                  <a:pt x="2785" y="1123"/>
                  <a:pt x="2717" y="1032"/>
                  <a:pt x="2622" y="998"/>
                </a:cubicBezTo>
                <a:cubicBezTo>
                  <a:pt x="2622" y="797"/>
                  <a:pt x="2622" y="797"/>
                  <a:pt x="2622" y="797"/>
                </a:cubicBezTo>
                <a:cubicBezTo>
                  <a:pt x="3057" y="652"/>
                  <a:pt x="3057" y="652"/>
                  <a:pt x="3057" y="652"/>
                </a:cubicBezTo>
                <a:cubicBezTo>
                  <a:pt x="3091" y="641"/>
                  <a:pt x="3113" y="610"/>
                  <a:pt x="3113" y="574"/>
                </a:cubicBezTo>
                <a:cubicBezTo>
                  <a:pt x="3113" y="539"/>
                  <a:pt x="3091" y="508"/>
                  <a:pt x="3057" y="497"/>
                </a:cubicBezTo>
                <a:close/>
                <a:moveTo>
                  <a:pt x="2540" y="1148"/>
                </a:moveTo>
                <a:cubicBezTo>
                  <a:pt x="2585" y="1148"/>
                  <a:pt x="2621" y="1184"/>
                  <a:pt x="2621" y="1230"/>
                </a:cubicBezTo>
                <a:cubicBezTo>
                  <a:pt x="2621" y="1275"/>
                  <a:pt x="2585" y="1312"/>
                  <a:pt x="2540" y="1312"/>
                </a:cubicBezTo>
                <a:cubicBezTo>
                  <a:pt x="2494" y="1312"/>
                  <a:pt x="2458" y="1275"/>
                  <a:pt x="2458" y="1230"/>
                </a:cubicBezTo>
                <a:cubicBezTo>
                  <a:pt x="2458" y="1184"/>
                  <a:pt x="2494" y="1148"/>
                  <a:pt x="2540" y="1148"/>
                </a:cubicBezTo>
                <a:close/>
                <a:moveTo>
                  <a:pt x="2481" y="1967"/>
                </a:moveTo>
                <a:cubicBezTo>
                  <a:pt x="2540" y="1731"/>
                  <a:pt x="2540" y="1731"/>
                  <a:pt x="2540" y="1731"/>
                </a:cubicBezTo>
                <a:cubicBezTo>
                  <a:pt x="2599" y="1967"/>
                  <a:pt x="2599" y="1967"/>
                  <a:pt x="2599" y="1967"/>
                </a:cubicBezTo>
                <a:cubicBezTo>
                  <a:pt x="2481" y="1967"/>
                  <a:pt x="2481" y="1967"/>
                  <a:pt x="2481" y="1967"/>
                </a:cubicBezTo>
                <a:close/>
                <a:moveTo>
                  <a:pt x="2533" y="654"/>
                </a:moveTo>
                <a:cubicBezTo>
                  <a:pt x="1570" y="493"/>
                  <a:pt x="1570" y="493"/>
                  <a:pt x="1570" y="493"/>
                </a:cubicBezTo>
                <a:cubicBezTo>
                  <a:pt x="1525" y="486"/>
                  <a:pt x="1483" y="516"/>
                  <a:pt x="1476" y="561"/>
                </a:cubicBezTo>
                <a:cubicBezTo>
                  <a:pt x="1469" y="605"/>
                  <a:pt x="1499" y="648"/>
                  <a:pt x="1543" y="655"/>
                </a:cubicBezTo>
                <a:cubicBezTo>
                  <a:pt x="2201" y="765"/>
                  <a:pt x="2201" y="765"/>
                  <a:pt x="2201" y="765"/>
                </a:cubicBezTo>
                <a:cubicBezTo>
                  <a:pt x="1557" y="979"/>
                  <a:pt x="1557" y="979"/>
                  <a:pt x="1557" y="979"/>
                </a:cubicBezTo>
                <a:cubicBezTo>
                  <a:pt x="341" y="574"/>
                  <a:pt x="341" y="574"/>
                  <a:pt x="341" y="574"/>
                </a:cubicBezTo>
                <a:cubicBezTo>
                  <a:pt x="1557" y="169"/>
                  <a:pt x="1557" y="169"/>
                  <a:pt x="1557" y="169"/>
                </a:cubicBezTo>
                <a:cubicBezTo>
                  <a:pt x="2772" y="574"/>
                  <a:pt x="2772" y="574"/>
                  <a:pt x="2772" y="574"/>
                </a:cubicBezTo>
                <a:cubicBezTo>
                  <a:pt x="2533" y="654"/>
                  <a:pt x="2533" y="654"/>
                  <a:pt x="2533" y="654"/>
                </a:cubicBezTo>
                <a:close/>
                <a:moveTo>
                  <a:pt x="2533" y="654"/>
                </a:moveTo>
                <a:cubicBezTo>
                  <a:pt x="2533" y="654"/>
                  <a:pt x="2533" y="654"/>
                  <a:pt x="2533" y="654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幻灯片设计与版式选择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 rot="5400000">
            <a:off x="4122816" y="2307849"/>
            <a:ext cx="3865912" cy="304587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" name="AutoShape 4"/>
          <p:cNvSpPr/>
          <p:nvPr/>
        </p:nvSpPr>
        <p:spPr>
          <a:xfrm>
            <a:off x="4636281" y="2635739"/>
            <a:ext cx="2812865" cy="481013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</p:spPr>
      </p:sp>
      <p:sp>
        <p:nvSpPr>
          <p:cNvPr id="5" name="TextBox 5"/>
          <p:cNvSpPr txBox="1"/>
          <p:nvPr/>
        </p:nvSpPr>
        <p:spPr>
          <a:xfrm>
            <a:off x="4778725" y="2704648"/>
            <a:ext cx="2554095" cy="33568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左右分割型版式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36281" y="3198459"/>
            <a:ext cx="2812865" cy="171747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将页面分为左右两部分，左侧放置说明性文字，右侧匹配对应的可视化元素（如产品图、流程图），特别适合竞品分析或功能对比场景。</a:t>
            </a:r>
            <a:endParaRPr lang="en-US" sz="1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5827172" y="4915932"/>
            <a:ext cx="457200" cy="114300"/>
            <a:chOff x="5827172" y="4915932"/>
            <a:chExt cx="457200" cy="114300"/>
          </a:xfrm>
        </p:grpSpPr>
        <p:sp>
          <p:nvSpPr>
            <p:cNvPr id="8" name="AutoShape 8"/>
            <p:cNvSpPr/>
            <p:nvPr/>
          </p:nvSpPr>
          <p:spPr>
            <a:xfrm>
              <a:off x="5998622" y="4915932"/>
              <a:ext cx="114300" cy="114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 w="12668">
              <a:solidFill>
                <a:srgbClr val="FFFFFF">
                  <a:alpha val="100000"/>
                </a:srgbClr>
              </a:solidFill>
              <a:prstDash val="solid"/>
            </a:ln>
          </p:spPr>
        </p:sp>
        <p:sp>
          <p:nvSpPr>
            <p:cNvPr id="9" name="AutoShape 9"/>
            <p:cNvSpPr/>
            <p:nvPr/>
          </p:nvSpPr>
          <p:spPr>
            <a:xfrm>
              <a:off x="6189122" y="4925457"/>
              <a:ext cx="95250" cy="952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</p:spPr>
        </p:sp>
        <p:sp>
          <p:nvSpPr>
            <p:cNvPr id="10" name="AutoShape 10"/>
            <p:cNvSpPr/>
            <p:nvPr/>
          </p:nvSpPr>
          <p:spPr>
            <a:xfrm>
              <a:off x="5827172" y="4925457"/>
              <a:ext cx="95250" cy="952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</p:spPr>
        </p:sp>
      </p:grpSp>
      <p:sp>
        <p:nvSpPr>
          <p:cNvPr id="11" name="AutoShape 11"/>
          <p:cNvSpPr/>
          <p:nvPr/>
        </p:nvSpPr>
        <p:spPr>
          <a:xfrm rot="5400000">
            <a:off x="542146" y="2307849"/>
            <a:ext cx="3865912" cy="3045870"/>
          </a:xfrm>
          <a:prstGeom prst="hexagon">
            <a:avLst>
              <a:gd name="adj" fmla="val 25000"/>
              <a:gd name="vf" fmla="val 115470"/>
            </a:avLst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1090209" y="2635739"/>
            <a:ext cx="2786783" cy="48101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1273333" y="2673839"/>
            <a:ext cx="2403538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标题+内容型布局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90209" y="3198459"/>
            <a:ext cx="2786783" cy="1661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适用于单页核心观点展示，标题区使用大字号突出主题，内容区可灵活组合文字、图表或图片，适合项目汇报的关键数据呈现。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2223247" y="4915932"/>
            <a:ext cx="466725" cy="114300"/>
            <a:chOff x="2223247" y="4915932"/>
            <a:chExt cx="466725" cy="114300"/>
          </a:xfrm>
        </p:grpSpPr>
        <p:sp>
          <p:nvSpPr>
            <p:cNvPr id="16" name="AutoShape 16"/>
            <p:cNvSpPr/>
            <p:nvPr/>
          </p:nvSpPr>
          <p:spPr>
            <a:xfrm>
              <a:off x="2223247" y="4915932"/>
              <a:ext cx="114300" cy="114300"/>
            </a:xfrm>
            <a:prstGeom prst="ellipse">
              <a:avLst/>
            </a:prstGeom>
            <a:solidFill>
              <a:schemeClr val="lt2">
                <a:alpha val="100000"/>
              </a:schemeClr>
            </a:solidFill>
            <a:ln w="12668">
              <a:solidFill>
                <a:schemeClr val="accent1">
                  <a:alpha val="100000"/>
                </a:schemeClr>
              </a:solidFill>
              <a:prstDash val="solid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2413747" y="4925457"/>
              <a:ext cx="95250" cy="9525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8" name="AutoShape 18"/>
            <p:cNvSpPr/>
            <p:nvPr/>
          </p:nvSpPr>
          <p:spPr>
            <a:xfrm>
              <a:off x="2594722" y="4925457"/>
              <a:ext cx="95250" cy="9525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9" name="AutoShape 19"/>
          <p:cNvSpPr/>
          <p:nvPr/>
        </p:nvSpPr>
        <p:spPr>
          <a:xfrm rot="5400000">
            <a:off x="7738341" y="2307849"/>
            <a:ext cx="3865912" cy="3045870"/>
          </a:xfrm>
          <a:prstGeom prst="hexagon">
            <a:avLst>
              <a:gd name="adj" fmla="val 25000"/>
              <a:gd name="vf" fmla="val 115470"/>
            </a:avLst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0" name="AutoShape 20"/>
          <p:cNvSpPr/>
          <p:nvPr/>
        </p:nvSpPr>
        <p:spPr>
          <a:xfrm>
            <a:off x="8326857" y="2635739"/>
            <a:ext cx="2688879" cy="48101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1" name="TextBox 21"/>
          <p:cNvSpPr txBox="1"/>
          <p:nvPr/>
        </p:nvSpPr>
        <p:spPr>
          <a:xfrm>
            <a:off x="8406700" y="2673839"/>
            <a:ext cx="2529193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图文环绕型设计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277923" y="3198459"/>
            <a:ext cx="2800054" cy="171747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通过非对称排版实现动态视觉效果，图片与文字形成互动关系，适用于企业文化宣传或教育培训类演示。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 flipH="1">
            <a:off x="9419441" y="4915932"/>
            <a:ext cx="466725" cy="114300"/>
            <a:chOff x="9419441" y="4915932"/>
            <a:chExt cx="466725" cy="114300"/>
          </a:xfrm>
        </p:grpSpPr>
        <p:sp>
          <p:nvSpPr>
            <p:cNvPr id="24" name="AutoShape 24"/>
            <p:cNvSpPr/>
            <p:nvPr/>
          </p:nvSpPr>
          <p:spPr>
            <a:xfrm>
              <a:off x="9419441" y="4915932"/>
              <a:ext cx="114300" cy="114300"/>
            </a:xfrm>
            <a:prstGeom prst="ellipse">
              <a:avLst/>
            </a:prstGeom>
            <a:solidFill>
              <a:schemeClr val="lt2">
                <a:alpha val="100000"/>
              </a:schemeClr>
            </a:solidFill>
            <a:ln w="12668">
              <a:solidFill>
                <a:schemeClr val="accent1">
                  <a:alpha val="100000"/>
                </a:schemeClr>
              </a:solidFill>
              <a:prstDash val="solid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9609941" y="4925457"/>
              <a:ext cx="95250" cy="9525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26" name="AutoShape 26"/>
            <p:cNvSpPr/>
            <p:nvPr/>
          </p:nvSpPr>
          <p:spPr>
            <a:xfrm>
              <a:off x="9790916" y="4925457"/>
              <a:ext cx="95250" cy="9525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动画效果与过渡设置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058877" y="1949322"/>
            <a:ext cx="4074247" cy="4442100"/>
            <a:chOff x="4058877" y="1949322"/>
            <a:chExt cx="4074247" cy="4442100"/>
          </a:xfrm>
        </p:grpSpPr>
        <p:sp>
          <p:nvSpPr>
            <p:cNvPr id="4" name="Freeform 4"/>
            <p:cNvSpPr/>
            <p:nvPr/>
          </p:nvSpPr>
          <p:spPr>
            <a:xfrm>
              <a:off x="5529939" y="1949322"/>
              <a:ext cx="1132122" cy="1234337"/>
            </a:xfrm>
            <a:custGeom>
              <a:avLst/>
              <a:gdLst/>
              <a:ahLst/>
              <a:cxnLst/>
              <a:rect l="l" t="t" r="r" b="b"/>
              <a:pathLst>
                <a:path w="1774574" h="1097009">
                  <a:moveTo>
                    <a:pt x="887287" y="0"/>
                  </a:moveTo>
                  <a:lnTo>
                    <a:pt x="1774574" y="1097009"/>
                  </a:lnTo>
                  <a:lnTo>
                    <a:pt x="0" y="1097009"/>
                  </a:lnTo>
                  <a:lnTo>
                    <a:pt x="887287" y="0"/>
                  </a:lnTo>
                </a:path>
              </a:pathLst>
            </a:custGeom>
            <a:solidFill>
              <a:schemeClr val="accent1">
                <a:alpha val="40000"/>
              </a:schemeClr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5060509" y="3336599"/>
              <a:ext cx="2070982" cy="870688"/>
            </a:xfrm>
            <a:custGeom>
              <a:avLst/>
              <a:gdLst/>
              <a:ahLst/>
              <a:cxnLst/>
              <a:rect l="l" t="t" r="r" b="b"/>
              <a:pathLst>
                <a:path w="3246216" h="773818">
                  <a:moveTo>
                    <a:pt x="625883" y="0"/>
                  </a:moveTo>
                  <a:lnTo>
                    <a:pt x="2620333" y="0"/>
                  </a:lnTo>
                  <a:lnTo>
                    <a:pt x="3246216" y="773818"/>
                  </a:lnTo>
                  <a:lnTo>
                    <a:pt x="0" y="773818"/>
                  </a:lnTo>
                  <a:lnTo>
                    <a:pt x="625883" y="0"/>
                  </a:lnTo>
                </a:path>
              </a:pathLst>
            </a:custGeom>
            <a:solidFill>
              <a:schemeClr val="accent1">
                <a:alpha val="60000"/>
              </a:scheme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4591079" y="4360226"/>
              <a:ext cx="3009842" cy="870686"/>
            </a:xfrm>
            <a:custGeom>
              <a:avLst/>
              <a:gdLst/>
              <a:ahLst/>
              <a:cxnLst/>
              <a:rect l="l" t="t" r="r" b="b"/>
              <a:pathLst>
                <a:path w="4717856" h="773817">
                  <a:moveTo>
                    <a:pt x="625882" y="0"/>
                  </a:moveTo>
                  <a:lnTo>
                    <a:pt x="4091974" y="0"/>
                  </a:lnTo>
                  <a:lnTo>
                    <a:pt x="4717856" y="773817"/>
                  </a:lnTo>
                  <a:lnTo>
                    <a:pt x="0" y="773817"/>
                  </a:lnTo>
                  <a:lnTo>
                    <a:pt x="625882" y="0"/>
                  </a:lnTo>
                </a:path>
              </a:pathLst>
            </a:custGeom>
            <a:solidFill>
              <a:schemeClr val="accent1">
                <a:alpha val="80000"/>
              </a:scheme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4058877" y="5383852"/>
              <a:ext cx="4074247" cy="1007570"/>
            </a:xfrm>
            <a:custGeom>
              <a:avLst/>
              <a:gdLst/>
              <a:ahLst/>
              <a:cxnLst/>
              <a:rect l="l" t="t" r="r" b="b"/>
              <a:pathLst>
                <a:path w="6386287" h="895470">
                  <a:moveTo>
                    <a:pt x="724278" y="0"/>
                  </a:moveTo>
                  <a:lnTo>
                    <a:pt x="5662010" y="0"/>
                  </a:lnTo>
                  <a:lnTo>
                    <a:pt x="6386287" y="895470"/>
                  </a:lnTo>
                  <a:lnTo>
                    <a:pt x="0" y="895470"/>
                  </a:lnTo>
                  <a:lnTo>
                    <a:pt x="724278" y="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8" name="AutoShape 8"/>
            <p:cNvSpPr/>
            <p:nvPr/>
          </p:nvSpPr>
          <p:spPr>
            <a:xfrm>
              <a:off x="5529939" y="2523642"/>
              <a:ext cx="1132122" cy="549447"/>
            </a:xfrm>
            <a:prstGeom prst="rect">
              <a:avLst/>
            </a:prstGeom>
            <a:noFill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FFFFF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01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5281657" y="3501423"/>
              <a:ext cx="1628684" cy="549447"/>
            </a:xfrm>
            <a:prstGeom prst="rect">
              <a:avLst/>
            </a:prstGeom>
            <a:noFill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FFFFF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02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281657" y="4515653"/>
              <a:ext cx="1628684" cy="549447"/>
            </a:xfrm>
            <a:prstGeom prst="rect">
              <a:avLst/>
            </a:prstGeom>
            <a:noFill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FFFFF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03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5281657" y="5607405"/>
              <a:ext cx="1628684" cy="549447"/>
            </a:xfrm>
            <a:prstGeom prst="rect">
              <a:avLst/>
            </a:prstGeom>
            <a:noFill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DFDFD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04</a:t>
              </a:r>
              <a:endParaRPr lang="en-US" sz="110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8395621" y="1621438"/>
            <a:ext cx="2877312" cy="648216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平滑过渡衔接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95621" y="2223674"/>
            <a:ext cx="2877312" cy="1463040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在章节切换时采用"平移"或"缩放"转场效果，保持视觉连贯性，避免生硬跳转影响观感。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95621" y="4127254"/>
            <a:ext cx="2877312" cy="618268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时间轴控制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95621" y="4699541"/>
            <a:ext cx="2877312" cy="1463040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通过"从上一项之后开始"的延时设置，实现动画自动序列播放，特别适用于产品演示视频嵌入场景。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5242" y="1621438"/>
            <a:ext cx="2877312" cy="648216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r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渐进式内容呈现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5242" y="2223674"/>
            <a:ext cx="2877312" cy="1463040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使用"出现"+"淡入"动画组合，按逻辑顺序分步骤展示复杂流程，确保观众注意力跟随演讲节奏。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5242" y="4127254"/>
            <a:ext cx="2877312" cy="618268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r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重点强调动画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5242" y="4699541"/>
            <a:ext cx="2877312" cy="1463040"/>
          </a:xfrm>
          <a:prstGeom prst="rect">
            <a:avLst/>
          </a:prstGeom>
          <a:noFill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对关键数据使用"脉冲"或"放大/缩小"强调效果，配合演讲者的口头提示强化观众记忆。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演示文稿放映与输出技巧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 l="25196" r="25196"/>
          <a:stretch>
            <a:fillRect/>
          </a:stretch>
        </p:blipFill>
        <p:spPr>
          <a:xfrm>
            <a:off x="8488800" y="1777403"/>
            <a:ext cx="3049996" cy="4216695"/>
          </a:xfrm>
          <a:prstGeom prst="round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5335151" y="1777403"/>
            <a:ext cx="3005958" cy="4216695"/>
          </a:xfrm>
          <a:prstGeom prst="round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335151" y="1339414"/>
            <a:ext cx="6203645" cy="292757"/>
          </a:xfrm>
          <a:prstGeom prst="roundRect">
            <a:avLst>
              <a:gd name="adj" fmla="val 45454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720401" y="1296052"/>
            <a:ext cx="3431205" cy="4813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演讲者视图模式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09373" y="1732534"/>
            <a:ext cx="4282862" cy="983867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双屏显示时启用备注提示功能，主屏展示纯净幻灯片，副屏显示讲稿要点和时间进度提醒。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9373" y="3369312"/>
            <a:ext cx="4282862" cy="1010481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根据不同受众需求创建专属播放序列，可跳过技术细节页面向管理层直接展示结论性内容。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9373" y="5010231"/>
            <a:ext cx="4282862" cy="1156860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导出为PDF格式保证格式不变，同时生成MP4视频版本便于社交媒体传播，注意检查嵌入字体是否正常渲染。</a:t>
            </a:r>
            <a:endParaRPr lang="en-US" sz="13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01351" y="2916535"/>
            <a:ext cx="3431205" cy="4813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自定义放映方案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0401" y="4528880"/>
            <a:ext cx="3431205" cy="4813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高兼容性输出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49881" y="1255923"/>
            <a:ext cx="1492238" cy="1492238"/>
          </a:xfrm>
          <a:prstGeom prst="roundRect">
            <a:avLst>
              <a:gd name="adj" fmla="val 8841"/>
            </a:avLst>
          </a:prstGeom>
          <a:gradFill>
            <a:gsLst>
              <a:gs pos="0">
                <a:schemeClr val="accent1">
                  <a:alpha val="100000"/>
                  <a:lumMod val="85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effectLst>
            <a:outerShdw blurRad="203200" dist="101600" dir="2700000">
              <a:srgbClr val="000000">
                <a:alpha val="30000"/>
              </a:srgbClr>
            </a:outerShdw>
          </a:effectLst>
        </p:spPr>
      </p:sp>
      <p:grpSp>
        <p:nvGrpSpPr>
          <p:cNvPr id="3" name="Group 3"/>
          <p:cNvGrpSpPr/>
          <p:nvPr/>
        </p:nvGrpSpPr>
        <p:grpSpPr>
          <a:xfrm rot="0">
            <a:off x="5391045" y="1297087"/>
            <a:ext cx="1409911" cy="1409911"/>
            <a:chOff x="5391045" y="1297087"/>
            <a:chExt cx="1409911" cy="1409911"/>
          </a:xfrm>
        </p:grpSpPr>
        <p:sp>
          <p:nvSpPr>
            <p:cNvPr id="4" name="Freeform 4"/>
            <p:cNvSpPr/>
            <p:nvPr/>
          </p:nvSpPr>
          <p:spPr>
            <a:xfrm>
              <a:off x="5391045" y="1297087"/>
              <a:ext cx="1409911" cy="1409911"/>
            </a:xfrm>
            <a:custGeom>
              <a:avLst/>
              <a:gdLst/>
              <a:ahLst/>
              <a:cxnLst/>
              <a:rect l="l" t="t" r="r" b="b"/>
              <a:pathLst>
                <a:path w="1625021" h="1625022">
                  <a:moveTo>
                    <a:pt x="247132" y="108611"/>
                  </a:moveTo>
                  <a:cubicBezTo>
                    <a:pt x="173259" y="108611"/>
                    <a:pt x="113373" y="168497"/>
                    <a:pt x="113373" y="242370"/>
                  </a:cubicBezTo>
                  <a:lnTo>
                    <a:pt x="113373" y="1373126"/>
                  </a:lnTo>
                  <a:cubicBezTo>
                    <a:pt x="113373" y="1446999"/>
                    <a:pt x="173259" y="1506885"/>
                    <a:pt x="247132" y="1506885"/>
                  </a:cubicBezTo>
                  <a:lnTo>
                    <a:pt x="1377888" y="1506885"/>
                  </a:lnTo>
                  <a:cubicBezTo>
                    <a:pt x="1451761" y="1506885"/>
                    <a:pt x="1511647" y="1446999"/>
                    <a:pt x="1511647" y="1373126"/>
                  </a:cubicBezTo>
                  <a:lnTo>
                    <a:pt x="1511647" y="242370"/>
                  </a:lnTo>
                  <a:cubicBezTo>
                    <a:pt x="1511647" y="168497"/>
                    <a:pt x="1451761" y="108611"/>
                    <a:pt x="1377888" y="108611"/>
                  </a:cubicBezTo>
                  <a:close/>
                  <a:moveTo>
                    <a:pt x="143668" y="0"/>
                  </a:moveTo>
                  <a:lnTo>
                    <a:pt x="1481353" y="0"/>
                  </a:lnTo>
                  <a:cubicBezTo>
                    <a:pt x="1560699" y="0"/>
                    <a:pt x="1625021" y="64322"/>
                    <a:pt x="1625021" y="143668"/>
                  </a:cubicBezTo>
                  <a:lnTo>
                    <a:pt x="1625021" y="1481354"/>
                  </a:lnTo>
                  <a:cubicBezTo>
                    <a:pt x="1625021" y="1560700"/>
                    <a:pt x="1560699" y="1625022"/>
                    <a:pt x="1481353" y="1625022"/>
                  </a:cubicBezTo>
                  <a:lnTo>
                    <a:pt x="143668" y="1625022"/>
                  </a:lnTo>
                  <a:cubicBezTo>
                    <a:pt x="64322" y="1625022"/>
                    <a:pt x="0" y="1560700"/>
                    <a:pt x="0" y="1481354"/>
                  </a:cubicBezTo>
                  <a:lnTo>
                    <a:pt x="0" y="143668"/>
                  </a:lnTo>
                  <a:cubicBezTo>
                    <a:pt x="0" y="64322"/>
                    <a:pt x="64322" y="0"/>
                    <a:pt x="143668" y="0"/>
                  </a:cubicBezTo>
                  <a:close/>
                </a:path>
              </a:pathLst>
            </a:custGeom>
            <a:solidFill>
              <a:schemeClr val="accent1">
                <a:alpha val="100000"/>
                <a:lumMod val="95000"/>
              </a:schemeClr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5391045" y="1297087"/>
              <a:ext cx="1409911" cy="1409911"/>
            </a:xfrm>
            <a:prstGeom prst="roundRect">
              <a:avLst>
                <a:gd name="adj" fmla="val 8841"/>
              </a:avLst>
            </a:prstGeom>
            <a:noFill/>
          </p:spPr>
        </p:sp>
        <p:sp>
          <p:nvSpPr>
            <p:cNvPr id="6" name="AutoShape 6"/>
            <p:cNvSpPr/>
            <p:nvPr/>
          </p:nvSpPr>
          <p:spPr>
            <a:xfrm>
              <a:off x="5489433" y="1395475"/>
              <a:ext cx="1213222" cy="1213222"/>
            </a:xfrm>
            <a:prstGeom prst="roundRect">
              <a:avLst>
                <a:gd name="adj" fmla="val 9566"/>
              </a:avLst>
            </a:prstGeom>
            <a:noFill/>
          </p:spPr>
        </p:sp>
      </p:grpSp>
      <p:sp>
        <p:nvSpPr>
          <p:cNvPr id="7" name="Freeform 7"/>
          <p:cNvSpPr/>
          <p:nvPr/>
        </p:nvSpPr>
        <p:spPr>
          <a:xfrm>
            <a:off x="5624640" y="1789116"/>
            <a:ext cx="942720" cy="645361"/>
          </a:xfrm>
          <a:custGeom>
            <a:avLst/>
            <a:gdLst/>
            <a:ahLst/>
            <a:cxnLst/>
            <a:rect l="l" t="t" r="r" b="b"/>
            <a:pathLst>
              <a:path w="3113" h="2131">
                <a:moveTo>
                  <a:pt x="3057" y="497"/>
                </a:moveTo>
                <a:cubicBezTo>
                  <a:pt x="1582" y="5"/>
                  <a:pt x="1582" y="5"/>
                  <a:pt x="1582" y="5"/>
                </a:cubicBezTo>
                <a:cubicBezTo>
                  <a:pt x="1565" y="0"/>
                  <a:pt x="1547" y="0"/>
                  <a:pt x="1531" y="5"/>
                </a:cubicBezTo>
                <a:cubicBezTo>
                  <a:pt x="56" y="497"/>
                  <a:pt x="56" y="497"/>
                  <a:pt x="56" y="497"/>
                </a:cubicBezTo>
                <a:cubicBezTo>
                  <a:pt x="23" y="508"/>
                  <a:pt x="0" y="539"/>
                  <a:pt x="0" y="574"/>
                </a:cubicBezTo>
                <a:cubicBezTo>
                  <a:pt x="0" y="610"/>
                  <a:pt x="23" y="641"/>
                  <a:pt x="56" y="652"/>
                </a:cubicBezTo>
                <a:cubicBezTo>
                  <a:pt x="492" y="797"/>
                  <a:pt x="492" y="797"/>
                  <a:pt x="492" y="797"/>
                </a:cubicBezTo>
                <a:cubicBezTo>
                  <a:pt x="492" y="1230"/>
                  <a:pt x="492" y="1230"/>
                  <a:pt x="492" y="1230"/>
                </a:cubicBezTo>
                <a:cubicBezTo>
                  <a:pt x="492" y="1252"/>
                  <a:pt x="500" y="1272"/>
                  <a:pt x="515" y="1288"/>
                </a:cubicBezTo>
                <a:cubicBezTo>
                  <a:pt x="530" y="1302"/>
                  <a:pt x="875" y="1639"/>
                  <a:pt x="1556" y="1639"/>
                </a:cubicBezTo>
                <a:cubicBezTo>
                  <a:pt x="1804" y="1639"/>
                  <a:pt x="2036" y="1595"/>
                  <a:pt x="2244" y="1507"/>
                </a:cubicBezTo>
                <a:cubicBezTo>
                  <a:pt x="2285" y="1489"/>
                  <a:pt x="2305" y="1441"/>
                  <a:pt x="2287" y="1399"/>
                </a:cubicBezTo>
                <a:cubicBezTo>
                  <a:pt x="2270" y="1358"/>
                  <a:pt x="2222" y="1338"/>
                  <a:pt x="2180" y="1356"/>
                </a:cubicBezTo>
                <a:cubicBezTo>
                  <a:pt x="1992" y="1435"/>
                  <a:pt x="1782" y="1475"/>
                  <a:pt x="1557" y="1475"/>
                </a:cubicBezTo>
                <a:cubicBezTo>
                  <a:pt x="1238" y="1475"/>
                  <a:pt x="1004" y="1393"/>
                  <a:pt x="863" y="1324"/>
                </a:cubicBezTo>
                <a:cubicBezTo>
                  <a:pt x="759" y="1272"/>
                  <a:pt x="689" y="1221"/>
                  <a:pt x="656" y="1193"/>
                </a:cubicBezTo>
                <a:cubicBezTo>
                  <a:pt x="656" y="852"/>
                  <a:pt x="656" y="852"/>
                  <a:pt x="656" y="852"/>
                </a:cubicBezTo>
                <a:cubicBezTo>
                  <a:pt x="1531" y="1144"/>
                  <a:pt x="1531" y="1144"/>
                  <a:pt x="1531" y="1144"/>
                </a:cubicBezTo>
                <a:cubicBezTo>
                  <a:pt x="1539" y="1146"/>
                  <a:pt x="1548" y="1148"/>
                  <a:pt x="1557" y="1148"/>
                </a:cubicBezTo>
                <a:cubicBezTo>
                  <a:pt x="1565" y="1148"/>
                  <a:pt x="1574" y="1146"/>
                  <a:pt x="1583" y="1144"/>
                </a:cubicBezTo>
                <a:cubicBezTo>
                  <a:pt x="2458" y="852"/>
                  <a:pt x="2458" y="852"/>
                  <a:pt x="2458" y="852"/>
                </a:cubicBezTo>
                <a:cubicBezTo>
                  <a:pt x="2458" y="998"/>
                  <a:pt x="2458" y="998"/>
                  <a:pt x="2458" y="998"/>
                </a:cubicBezTo>
                <a:cubicBezTo>
                  <a:pt x="2362" y="1032"/>
                  <a:pt x="2294" y="1123"/>
                  <a:pt x="2294" y="1230"/>
                </a:cubicBezTo>
                <a:cubicBezTo>
                  <a:pt x="2294" y="1330"/>
                  <a:pt x="2354" y="1416"/>
                  <a:pt x="2440" y="1454"/>
                </a:cubicBezTo>
                <a:cubicBezTo>
                  <a:pt x="2296" y="2029"/>
                  <a:pt x="2296" y="2029"/>
                  <a:pt x="2296" y="2029"/>
                </a:cubicBezTo>
                <a:cubicBezTo>
                  <a:pt x="2290" y="2053"/>
                  <a:pt x="2296" y="2080"/>
                  <a:pt x="2311" y="2099"/>
                </a:cubicBezTo>
                <a:cubicBezTo>
                  <a:pt x="2327" y="2119"/>
                  <a:pt x="2351" y="2131"/>
                  <a:pt x="2376" y="2131"/>
                </a:cubicBezTo>
                <a:cubicBezTo>
                  <a:pt x="2704" y="2131"/>
                  <a:pt x="2704" y="2131"/>
                  <a:pt x="2704" y="2131"/>
                </a:cubicBezTo>
                <a:cubicBezTo>
                  <a:pt x="2729" y="2131"/>
                  <a:pt x="2753" y="2119"/>
                  <a:pt x="2768" y="2099"/>
                </a:cubicBezTo>
                <a:cubicBezTo>
                  <a:pt x="2784" y="2080"/>
                  <a:pt x="2789" y="2053"/>
                  <a:pt x="2783" y="2029"/>
                </a:cubicBezTo>
                <a:cubicBezTo>
                  <a:pt x="2639" y="1454"/>
                  <a:pt x="2639" y="1454"/>
                  <a:pt x="2639" y="1454"/>
                </a:cubicBezTo>
                <a:cubicBezTo>
                  <a:pt x="2725" y="1416"/>
                  <a:pt x="2785" y="1330"/>
                  <a:pt x="2785" y="1230"/>
                </a:cubicBezTo>
                <a:cubicBezTo>
                  <a:pt x="2785" y="1123"/>
                  <a:pt x="2717" y="1032"/>
                  <a:pt x="2622" y="998"/>
                </a:cubicBezTo>
                <a:cubicBezTo>
                  <a:pt x="2622" y="797"/>
                  <a:pt x="2622" y="797"/>
                  <a:pt x="2622" y="797"/>
                </a:cubicBezTo>
                <a:cubicBezTo>
                  <a:pt x="3057" y="652"/>
                  <a:pt x="3057" y="652"/>
                  <a:pt x="3057" y="652"/>
                </a:cubicBezTo>
                <a:cubicBezTo>
                  <a:pt x="3091" y="641"/>
                  <a:pt x="3113" y="610"/>
                  <a:pt x="3113" y="574"/>
                </a:cubicBezTo>
                <a:cubicBezTo>
                  <a:pt x="3113" y="539"/>
                  <a:pt x="3091" y="508"/>
                  <a:pt x="3057" y="497"/>
                </a:cubicBezTo>
                <a:close/>
                <a:moveTo>
                  <a:pt x="2540" y="1148"/>
                </a:moveTo>
                <a:cubicBezTo>
                  <a:pt x="2585" y="1148"/>
                  <a:pt x="2621" y="1184"/>
                  <a:pt x="2621" y="1230"/>
                </a:cubicBezTo>
                <a:cubicBezTo>
                  <a:pt x="2621" y="1275"/>
                  <a:pt x="2585" y="1312"/>
                  <a:pt x="2540" y="1312"/>
                </a:cubicBezTo>
                <a:cubicBezTo>
                  <a:pt x="2494" y="1312"/>
                  <a:pt x="2458" y="1275"/>
                  <a:pt x="2458" y="1230"/>
                </a:cubicBezTo>
                <a:cubicBezTo>
                  <a:pt x="2458" y="1184"/>
                  <a:pt x="2494" y="1148"/>
                  <a:pt x="2540" y="1148"/>
                </a:cubicBezTo>
                <a:close/>
                <a:moveTo>
                  <a:pt x="2481" y="1967"/>
                </a:moveTo>
                <a:cubicBezTo>
                  <a:pt x="2540" y="1731"/>
                  <a:pt x="2540" y="1731"/>
                  <a:pt x="2540" y="1731"/>
                </a:cubicBezTo>
                <a:cubicBezTo>
                  <a:pt x="2599" y="1967"/>
                  <a:pt x="2599" y="1967"/>
                  <a:pt x="2599" y="1967"/>
                </a:cubicBezTo>
                <a:cubicBezTo>
                  <a:pt x="2481" y="1967"/>
                  <a:pt x="2481" y="1967"/>
                  <a:pt x="2481" y="1967"/>
                </a:cubicBezTo>
                <a:close/>
                <a:moveTo>
                  <a:pt x="2533" y="654"/>
                </a:moveTo>
                <a:cubicBezTo>
                  <a:pt x="1570" y="493"/>
                  <a:pt x="1570" y="493"/>
                  <a:pt x="1570" y="493"/>
                </a:cubicBezTo>
                <a:cubicBezTo>
                  <a:pt x="1525" y="486"/>
                  <a:pt x="1483" y="516"/>
                  <a:pt x="1476" y="561"/>
                </a:cubicBezTo>
                <a:cubicBezTo>
                  <a:pt x="1469" y="605"/>
                  <a:pt x="1499" y="648"/>
                  <a:pt x="1543" y="655"/>
                </a:cubicBezTo>
                <a:cubicBezTo>
                  <a:pt x="2201" y="765"/>
                  <a:pt x="2201" y="765"/>
                  <a:pt x="2201" y="765"/>
                </a:cubicBezTo>
                <a:cubicBezTo>
                  <a:pt x="1557" y="979"/>
                  <a:pt x="1557" y="979"/>
                  <a:pt x="1557" y="979"/>
                </a:cubicBezTo>
                <a:cubicBezTo>
                  <a:pt x="341" y="574"/>
                  <a:pt x="341" y="574"/>
                  <a:pt x="341" y="574"/>
                </a:cubicBezTo>
                <a:cubicBezTo>
                  <a:pt x="1557" y="169"/>
                  <a:pt x="1557" y="169"/>
                  <a:pt x="1557" y="169"/>
                </a:cubicBezTo>
                <a:cubicBezTo>
                  <a:pt x="2772" y="574"/>
                  <a:pt x="2772" y="574"/>
                  <a:pt x="2772" y="574"/>
                </a:cubicBezTo>
                <a:cubicBezTo>
                  <a:pt x="2533" y="654"/>
                  <a:pt x="2533" y="654"/>
                  <a:pt x="2533" y="654"/>
                </a:cubicBezTo>
                <a:close/>
                <a:moveTo>
                  <a:pt x="2533" y="654"/>
                </a:moveTo>
                <a:cubicBezTo>
                  <a:pt x="2533" y="654"/>
                  <a:pt x="2533" y="654"/>
                  <a:pt x="2533" y="654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8" name="TextBox 8"/>
          <p:cNvSpPr txBox="1"/>
          <p:nvPr/>
        </p:nvSpPr>
        <p:spPr>
          <a:xfrm>
            <a:off x="2614613" y="4724739"/>
            <a:ext cx="6962775" cy="514350"/>
          </a:xfrm>
          <a:prstGeom prst="rect">
            <a:avLst/>
          </a:prstGeom>
        </p:spPr>
        <p:txBody>
          <a:bodyPr vert="horz" wrap="square" lIns="114300" tIns="57150" rIns="114300" bIns="57150" rtlCol="0" anchor="b" anchorCtr="1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感谢观看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76488" y="3347599"/>
            <a:ext cx="7439025" cy="1266825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>
              <a:lnSpc>
                <a:spcPct val="56000"/>
              </a:lnSpc>
            </a:pPr>
            <a:r>
              <a:rPr lang="en-US" sz="9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  <a:endParaRPr lang="en-US" sz="9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FFFFFF"/>
      </a:dk1>
      <a:lt1>
        <a:srgbClr val="505462"/>
      </a:lt1>
      <a:dk2>
        <a:srgbClr val="02B9A4"/>
      </a:dk2>
      <a:lt2>
        <a:srgbClr val="757884"/>
      </a:lt2>
      <a:accent1>
        <a:srgbClr val="02B9A4"/>
      </a:accent1>
      <a:accent2>
        <a:srgbClr val="02B9A4"/>
      </a:accent2>
      <a:accent3>
        <a:srgbClr val="1F9C94"/>
      </a:accent3>
      <a:accent4>
        <a:srgbClr val="2AA4B4"/>
      </a:accent4>
      <a:accent5>
        <a:srgbClr val="0DB69A"/>
      </a:accent5>
      <a:accent6>
        <a:srgbClr val="09A5B0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1977</Words>
  <Application>WPS 演示</Application>
  <PresentationFormat>宽屏</PresentationFormat>
  <Paragraphs>192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Noto Sans SC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梦天</cp:lastModifiedBy>
  <cp:revision>3</cp:revision>
  <dcterms:created xsi:type="dcterms:W3CDTF">2025-10-20T11:38:00Z</dcterms:created>
  <dcterms:modified xsi:type="dcterms:W3CDTF">2026-01-04T06:50:27Z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538fcbfea3928358d9728d2f61b12a61_1767509217_c8381256d2d37e6f968631fd7e76ce49","ReservedCode1":"1f16a3e6fe8e7c13b78c4b7a50eb447b6cd16a064512b33587b1065b918d0dfa","ContentPropagator":"001191110000802100433B10001","PropagateID":"538fcbfea3928358d9728d2f61b12a61_1767509217_c8381256d2d37e6f968631fd7e76ce49","ReservedCode2":"1f16a3e6fe8e7c13b78c4b7a50eb447b6cd16a064512b33587b1065b918d0dfa"}</vt:lpwstr>
  </property>
  <property fmtid="{D5CDD505-2E9C-101B-9397-08002B2CF9AE}" pid="3" name="ICV">
    <vt:lpwstr>FE5E8928F368430EA3E4167B88F714D1_12</vt:lpwstr>
  </property>
  <property fmtid="{D5CDD505-2E9C-101B-9397-08002B2CF9AE}" pid="4" name="KSOProductBuildVer">
    <vt:lpwstr>2052-12.1.0.24657</vt:lpwstr>
  </property>
</Properties>
</file>